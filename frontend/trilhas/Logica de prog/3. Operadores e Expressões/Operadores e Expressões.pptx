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ABD9-DD46-4ED5-A0D7-D1D843D8C10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88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 3 — Operadores e Expressões (</a:t>
            </a:r>
            <a:r>
              <a:rPr lang="pt-BR" dirty="0" err="1"/>
              <a:t>Operators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Expressions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são Operadores (</a:t>
            </a:r>
            <a:r>
              <a:rPr lang="pt-BR" dirty="0" err="1"/>
              <a:t>Operators</a:t>
            </a:r>
            <a:r>
              <a:rPr lang="pt-BR" dirty="0"/>
              <a:t>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Símbolos usados para </a:t>
            </a:r>
            <a:r>
              <a:rPr lang="pt-BR" sz="2400" b="1" dirty="0"/>
              <a:t>realizar operações </a:t>
            </a:r>
            <a:r>
              <a:rPr lang="pt-BR" sz="2400" dirty="0"/>
              <a:t>sobre valores e variáveis.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Permitem </a:t>
            </a:r>
            <a:r>
              <a:rPr lang="pt-BR" sz="2400" b="1" dirty="0"/>
              <a:t>calcular resultados</a:t>
            </a:r>
            <a:r>
              <a:rPr lang="pt-BR" sz="2400" dirty="0"/>
              <a:t>, </a:t>
            </a:r>
            <a:r>
              <a:rPr lang="pt-BR" sz="2400" b="1" dirty="0"/>
              <a:t>comparar valores </a:t>
            </a:r>
            <a:r>
              <a:rPr lang="pt-BR" sz="2400" dirty="0"/>
              <a:t>e </a:t>
            </a:r>
            <a:r>
              <a:rPr lang="pt-BR" sz="2400" b="1" dirty="0"/>
              <a:t>tomar decisões</a:t>
            </a:r>
            <a:r>
              <a:rPr lang="pt-BR" sz="2400" dirty="0"/>
              <a:t>. </a:t>
            </a:r>
          </a:p>
          <a:p>
            <a:pPr marL="0" indent="0">
              <a:buNone/>
            </a:pPr>
            <a:r>
              <a:rPr lang="pt-BR" sz="2400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soma ← 10 + 5</a:t>
            </a:r>
          </a:p>
          <a:p>
            <a:pPr>
              <a:buFont typeface="Arial" panose="020B0604020202020204" pitchFamily="34" charset="0"/>
              <a:buChar char="•"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Operadores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Aritméticos (</a:t>
            </a:r>
            <a:r>
              <a:rPr lang="pt-BR" b="1" dirty="0" err="1"/>
              <a:t>Arithmetic</a:t>
            </a:r>
            <a:r>
              <a:rPr lang="pt-BR" b="1" dirty="0"/>
              <a:t>) </a:t>
            </a:r>
            <a:r>
              <a:rPr lang="pt-BR" dirty="0"/>
              <a:t>→ realizam cálculos.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Relacionais (</a:t>
            </a:r>
            <a:r>
              <a:rPr lang="pt-BR" b="1" dirty="0" err="1"/>
              <a:t>Relational</a:t>
            </a:r>
            <a:r>
              <a:rPr lang="pt-BR" b="1" dirty="0"/>
              <a:t>) </a:t>
            </a:r>
            <a:r>
              <a:rPr lang="pt-BR" dirty="0"/>
              <a:t>→ comparam valores.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Lógicos (</a:t>
            </a:r>
            <a:r>
              <a:rPr lang="pt-BR" b="1" dirty="0" err="1"/>
              <a:t>Logical</a:t>
            </a:r>
            <a:r>
              <a:rPr lang="pt-BR" b="1" dirty="0"/>
              <a:t>) </a:t>
            </a:r>
            <a:r>
              <a:rPr lang="pt-BR" dirty="0"/>
              <a:t>→ combinam expressões verdadeiras ou falsas.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Operadores Aritméticos (</a:t>
            </a:r>
            <a:r>
              <a:rPr lang="pt-BR" dirty="0" err="1"/>
              <a:t>Arithmetic</a:t>
            </a:r>
            <a:r>
              <a:rPr lang="pt-BR" dirty="0"/>
              <a:t> </a:t>
            </a:r>
            <a:r>
              <a:rPr lang="pt-BR" dirty="0" err="1"/>
              <a:t>Operators</a:t>
            </a:r>
            <a:r>
              <a:rPr lang="pt-BR" dirty="0"/>
              <a:t>)</a:t>
            </a:r>
            <a:endParaRPr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02B9D01F-530B-4B56-8B41-71E02EAEC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28196"/>
              </p:ext>
            </p:extLst>
          </p:nvPr>
        </p:nvGraphicFramePr>
        <p:xfrm>
          <a:off x="457200" y="1806100"/>
          <a:ext cx="8229600" cy="24688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5308433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4408422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0047943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08748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Significado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68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Adição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4 + 2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76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Subtração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5 - 1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20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Multiplicação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3 *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755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Divisão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8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56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Resto da divisão (módulo)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7 %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357367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8747D9E3-12DD-4D32-874D-9AC549D29EF1}"/>
              </a:ext>
            </a:extLst>
          </p:cNvPr>
          <p:cNvSpPr/>
          <p:nvPr/>
        </p:nvSpPr>
        <p:spPr>
          <a:xfrm>
            <a:off x="457200" y="4456052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b="1" dirty="0"/>
              <a:t>Exemplo em pseudocódigo:</a:t>
            </a:r>
          </a:p>
          <a:p>
            <a:r>
              <a:rPr lang="pt-BR" sz="2000" dirty="0"/>
              <a:t>inicio</a:t>
            </a:r>
          </a:p>
          <a:p>
            <a:r>
              <a:rPr lang="pt-BR" sz="2000" dirty="0"/>
              <a:t>  	a ← 10</a:t>
            </a:r>
          </a:p>
          <a:p>
            <a:r>
              <a:rPr lang="pt-BR" sz="2000" dirty="0"/>
              <a:t>  	b ← 3</a:t>
            </a:r>
          </a:p>
          <a:p>
            <a:r>
              <a:rPr lang="pt-BR" sz="2000" dirty="0"/>
              <a:t>  	resto ← a % b</a:t>
            </a:r>
          </a:p>
          <a:p>
            <a:r>
              <a:rPr lang="pt-BR" sz="2000" dirty="0"/>
              <a:t>  	escreva "Resto =", resto</a:t>
            </a:r>
          </a:p>
          <a:p>
            <a:r>
              <a:rPr lang="pt-BR" sz="2000" dirty="0"/>
              <a:t>fim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Precedência de Operadores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ordem de execução segue esta prioridade: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b="1" dirty="0"/>
              <a:t>Parênteses ()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b="1" dirty="0"/>
              <a:t>Multiplicação (*) e Divisão (/)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b="1" dirty="0"/>
              <a:t>Adição (+) e Subtração (-) 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resultado ← (2 + 3) * 4</a:t>
            </a:r>
          </a:p>
          <a:p>
            <a:pPr lvl="1"/>
            <a:r>
              <a:rPr lang="pt-BR" dirty="0"/>
              <a:t>Resultado = 20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Operadores Relacionais (</a:t>
            </a:r>
            <a:r>
              <a:rPr lang="pt-BR" dirty="0" err="1"/>
              <a:t>Relational</a:t>
            </a:r>
            <a:r>
              <a:rPr lang="pt-BR" dirty="0"/>
              <a:t> </a:t>
            </a:r>
            <a:r>
              <a:rPr lang="pt-BR" dirty="0" err="1"/>
              <a:t>Operators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97280"/>
          </a:xfrm>
        </p:spPr>
        <p:txBody>
          <a:bodyPr>
            <a:normAutofit/>
          </a:bodyPr>
          <a:lstStyle/>
          <a:p>
            <a:r>
              <a:rPr lang="pt-BR" sz="2800" dirty="0"/>
              <a:t>Comparam valores e retornam </a:t>
            </a:r>
            <a:r>
              <a:rPr lang="pt-BR" sz="2800" b="1" dirty="0"/>
              <a:t>verdadeiro</a:t>
            </a:r>
            <a:r>
              <a:rPr lang="pt-BR" sz="2800" dirty="0"/>
              <a:t> ou </a:t>
            </a:r>
            <a:r>
              <a:rPr lang="pt-BR" sz="2800" b="1" dirty="0"/>
              <a:t>falso</a:t>
            </a:r>
            <a:r>
              <a:rPr lang="pt-BR" sz="2800" dirty="0"/>
              <a:t>.</a:t>
            </a:r>
            <a:endParaRPr sz="28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1C66D13-6B17-4773-98D6-E9B7F5735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04991"/>
              </p:ext>
            </p:extLst>
          </p:nvPr>
        </p:nvGraphicFramePr>
        <p:xfrm>
          <a:off x="457200" y="2273274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3336601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77872450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9999145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54940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Significado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840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Igual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8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&lt;&gt;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Diferente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 &lt;&gt;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69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Maior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8 &gt;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75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Menor 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2 &lt;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9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Maior ou igual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6 &gt;=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700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Menor ou igual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4 &lt;=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435508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F72752ED-7C17-4313-8FAC-054916BC2DDA}"/>
              </a:ext>
            </a:extLst>
          </p:cNvPr>
          <p:cNvSpPr/>
          <p:nvPr/>
        </p:nvSpPr>
        <p:spPr>
          <a:xfrm>
            <a:off x="457200" y="4833594"/>
            <a:ext cx="8229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Exemplo:</a:t>
            </a:r>
          </a:p>
          <a:p>
            <a:r>
              <a:rPr lang="pt-BR" dirty="0"/>
              <a:t>inicio</a:t>
            </a:r>
          </a:p>
          <a:p>
            <a:r>
              <a:rPr lang="pt-BR" dirty="0"/>
              <a:t>  	idade ← 18</a:t>
            </a:r>
          </a:p>
          <a:p>
            <a:r>
              <a:rPr lang="pt-BR" dirty="0"/>
              <a:t>  	escreva idade &gt;= 18</a:t>
            </a:r>
          </a:p>
          <a:p>
            <a:r>
              <a:rPr lang="pt-BR" dirty="0"/>
              <a:t>fim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Saída: verdadeiro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2166D-F70F-4C2F-BCFC-7AA60CC1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Operadores Lógicos (</a:t>
            </a:r>
            <a:r>
              <a:rPr lang="pt-BR" dirty="0" err="1"/>
              <a:t>Logical</a:t>
            </a:r>
            <a:r>
              <a:rPr lang="pt-BR" dirty="0"/>
              <a:t> </a:t>
            </a:r>
            <a:r>
              <a:rPr lang="pt-BR" dirty="0" err="1"/>
              <a:t>Operators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8C5DB-9B3D-417C-9276-14443FDD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52806"/>
          </a:xfrm>
        </p:spPr>
        <p:txBody>
          <a:bodyPr>
            <a:normAutofit/>
          </a:bodyPr>
          <a:lstStyle/>
          <a:p>
            <a:r>
              <a:rPr lang="pt-BR" sz="2800" dirty="0"/>
              <a:t>Combinam expressões booleanas.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2FEF922-B0F8-4F47-9D5B-47546DC52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743271"/>
              </p:ext>
            </p:extLst>
          </p:nvPr>
        </p:nvGraphicFramePr>
        <p:xfrm>
          <a:off x="457199" y="2121032"/>
          <a:ext cx="8229600" cy="28346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21641328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6702925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5951158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09711741"/>
                    </a:ext>
                  </a:extLst>
                </a:gridCol>
              </a:tblGrid>
              <a:tr h="303482">
                <a:tc>
                  <a:txBody>
                    <a:bodyPr/>
                    <a:lstStyle/>
                    <a:p>
                      <a:r>
                        <a:rPr lang="pt-BR" b="1" dirty="0"/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Significado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Exemplo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608494"/>
                  </a:ext>
                </a:extLst>
              </a:tr>
              <a:tr h="758705">
                <a:tc>
                  <a:txBody>
                    <a:bodyPr/>
                    <a:lstStyle/>
                    <a:p>
                      <a:r>
                        <a:rPr lang="pt-BR"/>
                        <a:t>e (AND)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Verdadeiro se </a:t>
                      </a:r>
                      <a:r>
                        <a:rPr lang="pt-BR" b="1" dirty="0"/>
                        <a:t>ambas</a:t>
                      </a:r>
                      <a:r>
                        <a:rPr lang="pt-BR" dirty="0"/>
                        <a:t> forem verdadeiras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 e falso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falso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877431"/>
                  </a:ext>
                </a:extLst>
              </a:tr>
              <a:tr h="758705">
                <a:tc>
                  <a:txBody>
                    <a:bodyPr/>
                    <a:lstStyle/>
                    <a:p>
                      <a:r>
                        <a:rPr lang="pt-BR"/>
                        <a:t>ou (OR)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 se </a:t>
                      </a:r>
                      <a:r>
                        <a:rPr lang="pt-BR" b="1"/>
                        <a:t>pelo menos uma</a:t>
                      </a:r>
                      <a:r>
                        <a:rPr lang="pt-BR"/>
                        <a:t> for verdadeira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 ou falso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185561"/>
                  </a:ext>
                </a:extLst>
              </a:tr>
              <a:tr h="531094">
                <a:tc>
                  <a:txBody>
                    <a:bodyPr/>
                    <a:lstStyle/>
                    <a:p>
                      <a:r>
                        <a:rPr lang="pt-BR"/>
                        <a:t>nao (NOT)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Inverte o valor lógico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nao</a:t>
                      </a:r>
                      <a:r>
                        <a:rPr lang="pt-BR" dirty="0"/>
                        <a:t> verdadeiro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18571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FE9C6DB6-DEC7-4323-9581-E6FA87466333}"/>
              </a:ext>
            </a:extLst>
          </p:cNvPr>
          <p:cNvSpPr/>
          <p:nvPr/>
        </p:nvSpPr>
        <p:spPr>
          <a:xfrm>
            <a:off x="379428" y="4972169"/>
            <a:ext cx="83073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/>
              <a:t>Exemplo:</a:t>
            </a:r>
          </a:p>
          <a:p>
            <a:r>
              <a:rPr lang="pt-BR" sz="1600" dirty="0"/>
              <a:t>inicio</a:t>
            </a:r>
          </a:p>
          <a:p>
            <a:r>
              <a:rPr lang="pt-BR" sz="1600" dirty="0"/>
              <a:t>  idade ← 20</a:t>
            </a:r>
          </a:p>
          <a:p>
            <a:r>
              <a:rPr lang="pt-BR" sz="1600" dirty="0"/>
              <a:t>  estudante ← verdadeiro</a:t>
            </a:r>
          </a:p>
          <a:p>
            <a:r>
              <a:rPr lang="pt-BR" sz="1600" dirty="0"/>
              <a:t>  escreva idade &gt;= 18 e estudante</a:t>
            </a:r>
          </a:p>
          <a:p>
            <a:r>
              <a:rPr lang="pt-BR" sz="1600" dirty="0"/>
              <a:t>fim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Saída: verdadeiro</a:t>
            </a:r>
          </a:p>
        </p:txBody>
      </p:sp>
    </p:spTree>
    <p:extLst>
      <p:ext uri="{BB962C8B-B14F-4D97-AF65-F5344CB8AC3E}">
        <p14:creationId xmlns:p14="http://schemas.microsoft.com/office/powerpoint/2010/main" val="215354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Expressões (</a:t>
            </a:r>
            <a:r>
              <a:rPr lang="pt-BR" dirty="0" err="1"/>
              <a:t>Expressions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expressão</a:t>
            </a:r>
            <a:r>
              <a:rPr lang="pt-BR" dirty="0"/>
              <a:t> combina operadores e variáveis para gerar um </a:t>
            </a:r>
            <a:r>
              <a:rPr lang="pt-BR" b="1" dirty="0"/>
              <a:t>resultado</a:t>
            </a:r>
            <a:r>
              <a:rPr lang="pt-BR" dirty="0"/>
              <a:t>.</a:t>
            </a:r>
          </a:p>
          <a:p>
            <a:r>
              <a:rPr lang="pt-BR" dirty="0"/>
              <a:t>Pode ser </a:t>
            </a:r>
            <a:r>
              <a:rPr lang="pt-BR" b="1" dirty="0"/>
              <a:t>aritmética</a:t>
            </a:r>
            <a:r>
              <a:rPr lang="pt-BR" dirty="0"/>
              <a:t>, </a:t>
            </a:r>
            <a:r>
              <a:rPr lang="pt-BR" b="1" dirty="0"/>
              <a:t>relacional</a:t>
            </a:r>
            <a:r>
              <a:rPr lang="pt-BR" dirty="0"/>
              <a:t> ou </a:t>
            </a:r>
            <a:r>
              <a:rPr lang="pt-BR" b="1" dirty="0"/>
              <a:t>lógica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resultado ← (nota1 + nota2) / 2</a:t>
            </a:r>
          </a:p>
          <a:p>
            <a:pPr marL="0" indent="0">
              <a:buNone/>
            </a:pPr>
            <a:r>
              <a:rPr lang="pt-BR" dirty="0"/>
              <a:t>maioridade ← idade &gt;= 18</a:t>
            </a:r>
          </a:p>
          <a:p>
            <a:pPr marL="0" indent="0">
              <a:buNone/>
            </a:pPr>
            <a:r>
              <a:rPr lang="pt-BR" dirty="0" err="1"/>
              <a:t>condicao</a:t>
            </a:r>
            <a:r>
              <a:rPr lang="pt-BR" dirty="0"/>
              <a:t> ← (idade &gt;= 18) e (aprovado = verdadeiro)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algoritmo "</a:t>
            </a:r>
            <a:r>
              <a:rPr lang="pt-BR" dirty="0" err="1"/>
              <a:t>avaliacao_aluno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leia nota1, nota2</a:t>
            </a:r>
          </a:p>
          <a:p>
            <a:pPr marL="0" indent="0">
              <a:buNone/>
            </a:pPr>
            <a:r>
              <a:rPr lang="pt-BR" dirty="0"/>
              <a:t>  	media ← (nota1 + nota2) / 2</a:t>
            </a:r>
          </a:p>
          <a:p>
            <a:pPr marL="0" indent="0">
              <a:buNone/>
            </a:pPr>
            <a:r>
              <a:rPr lang="pt-BR" dirty="0"/>
              <a:t>  	aprovado ← media &gt;= 6</a:t>
            </a:r>
          </a:p>
          <a:p>
            <a:pPr marL="0" indent="0">
              <a:buNone/>
            </a:pPr>
            <a:r>
              <a:rPr lang="pt-BR" dirty="0"/>
              <a:t>  	escreva "Média:", media</a:t>
            </a:r>
          </a:p>
          <a:p>
            <a:pPr marL="0" indent="0">
              <a:buNone/>
            </a:pPr>
            <a:r>
              <a:rPr lang="pt-BR" dirty="0"/>
              <a:t>  	escreva "Aprovado:", aprovado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b="1" dirty="0"/>
              <a:t>Saída:</a:t>
            </a:r>
          </a:p>
          <a:p>
            <a:pPr lvl="1"/>
            <a:r>
              <a:rPr lang="pt-BR" dirty="0"/>
              <a:t>Média: 7</a:t>
            </a:r>
          </a:p>
          <a:p>
            <a:pPr lvl="1"/>
            <a:r>
              <a:rPr lang="pt-BR" dirty="0"/>
              <a:t>Aprovado: verdadeiro</a:t>
            </a:r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Cuidados Comuns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Use parênteses para </a:t>
            </a:r>
            <a:r>
              <a:rPr lang="pt-BR" b="1" dirty="0"/>
              <a:t>garantir a ordem correta</a:t>
            </a:r>
            <a:r>
              <a:rPr lang="pt-BR" dirty="0"/>
              <a:t>.</a:t>
            </a:r>
          </a:p>
          <a:p>
            <a:r>
              <a:rPr lang="pt-BR" dirty="0"/>
              <a:t>Evite comparar valores de tipos diferentes.</a:t>
            </a:r>
          </a:p>
          <a:p>
            <a:r>
              <a:rPr lang="pt-BR" dirty="0"/>
              <a:t>Verifique sempre se a variável foi </a:t>
            </a:r>
            <a:r>
              <a:rPr lang="pt-BR" b="1" dirty="0"/>
              <a:t>inicializada</a:t>
            </a:r>
            <a:r>
              <a:rPr lang="pt-BR" dirty="0"/>
              <a:t> antes do uso.</a:t>
            </a:r>
          </a:p>
          <a:p>
            <a:pPr marL="0" indent="0">
              <a:buNone/>
            </a:pPr>
            <a:r>
              <a:rPr lang="pt-BR" b="1" dirty="0"/>
              <a:t>Exemplo de erro comum:</a:t>
            </a:r>
          </a:p>
          <a:p>
            <a:pPr marL="0" indent="0">
              <a:buNone/>
            </a:pPr>
            <a:r>
              <a:rPr lang="pt-BR" dirty="0"/>
              <a:t>x ← y + 1  // se y não tiver valor, o resultado é indefinido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Operadores e expressões são o </a:t>
            </a:r>
            <a:r>
              <a:rPr lang="pt-BR" b="1" dirty="0"/>
              <a:t>coração dos cálculos e decisões</a:t>
            </a:r>
            <a:r>
              <a:rPr lang="pt-BR" dirty="0"/>
              <a:t>.</a:t>
            </a:r>
          </a:p>
          <a:p>
            <a:r>
              <a:rPr lang="pt-BR" dirty="0"/>
              <a:t>Saber combiná-los permite construir </a:t>
            </a:r>
            <a:r>
              <a:rPr lang="pt-BR" b="1" dirty="0"/>
              <a:t>lógicas complexas</a:t>
            </a:r>
            <a:r>
              <a:rPr lang="pt-BR" dirty="0"/>
              <a:t>.</a:t>
            </a:r>
          </a:p>
          <a:p>
            <a:r>
              <a:rPr lang="pt-BR" dirty="0"/>
              <a:t>Próximo passo: </a:t>
            </a:r>
            <a:r>
              <a:rPr lang="pt-BR" b="1" dirty="0"/>
              <a:t>estruturas de decisão</a:t>
            </a:r>
            <a:r>
              <a:rPr lang="pt-BR" dirty="0"/>
              <a:t> para controlar o fluxo do algoritmo.</a:t>
            </a:r>
          </a:p>
        </p:txBody>
      </p:sp>
    </p:spTree>
    <p:extLst>
      <p:ext uri="{BB962C8B-B14F-4D97-AF65-F5344CB8AC3E}">
        <p14:creationId xmlns:p14="http://schemas.microsoft.com/office/powerpoint/2010/main" val="423538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452</Words>
  <Application>Microsoft Office PowerPoint</Application>
  <PresentationFormat>Apresentação na tela (4:3)</PresentationFormat>
  <Paragraphs>142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Etapa 3 — Operadores e Expressões (Operators and Expressions)</vt:lpstr>
      <vt:lpstr>O que são Operadores (Operators)?</vt:lpstr>
      <vt:lpstr>Tipos de Operadores</vt:lpstr>
      <vt:lpstr>Operadores Aritméticos (Arithmetic Operators)</vt:lpstr>
      <vt:lpstr>Precedência de Operadores</vt:lpstr>
      <vt:lpstr>Operadores Relacionais (Relational Operators)</vt:lpstr>
      <vt:lpstr>Operadores Lógicos (Logical Operators)</vt:lpstr>
      <vt:lpstr>Expressões (Expressions)</vt:lpstr>
      <vt:lpstr>Exemplo Prático Completo</vt:lpstr>
      <vt:lpstr>Cuidados Comuns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/>
  <cp:keywords/>
  <dc:description>generated using python-pptx</dc:description>
  <cp:lastModifiedBy>Murilo Rocha</cp:lastModifiedBy>
  <cp:revision>25</cp:revision>
  <dcterms:created xsi:type="dcterms:W3CDTF">2013-01-27T09:14:16Z</dcterms:created>
  <dcterms:modified xsi:type="dcterms:W3CDTF">2025-11-06T03:41:21Z</dcterms:modified>
  <cp:category/>
</cp:coreProperties>
</file>