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4" r:id="rId5"/>
    <p:sldId id="260" r:id="rId6"/>
    <p:sldId id="275" r:id="rId7"/>
    <p:sldId id="276" r:id="rId8"/>
    <p:sldId id="277" r:id="rId9"/>
    <p:sldId id="263" r:id="rId10"/>
    <p:sldId id="264" r:id="rId11"/>
    <p:sldId id="265" r:id="rId12"/>
    <p:sldId id="279" r:id="rId13"/>
    <p:sldId id="280" r:id="rId14"/>
    <p:sldId id="272" r:id="rId15"/>
    <p:sldId id="273" r:id="rId16"/>
    <p:sldId id="270" r:id="rId17"/>
    <p:sldId id="27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37" autoAdjust="0"/>
  </p:normalViewPr>
  <p:slideViewPr>
    <p:cSldViewPr snapToGrid="0" snapToObjects="1">
      <p:cViewPr varScale="1">
        <p:scale>
          <a:sx n="80" d="100"/>
          <a:sy n="80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38329-A266-43EE-AEB3-4C153EED7A33}" type="datetimeFigureOut">
              <a:rPr lang="pt-BR" smtClean="0"/>
              <a:t>06/11/2025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98ABD9-DD46-4ED5-A0D7-D1D843D8C1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83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Etapa 7 — Funções e Procedimentos (</a:t>
            </a:r>
            <a:r>
              <a:rPr lang="pt-BR" dirty="0" err="1"/>
              <a:t>Functions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Procedures)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Trilha: Lógica de Programação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Por que modularizar?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Melhora </a:t>
            </a:r>
            <a:r>
              <a:rPr lang="pt-BR" sz="2400" b="1" dirty="0"/>
              <a:t>leitura</a:t>
            </a:r>
            <a:r>
              <a:rPr lang="pt-BR" sz="2400" dirty="0"/>
              <a:t> e </a:t>
            </a:r>
            <a:r>
              <a:rPr lang="pt-BR" sz="2400" b="1" dirty="0"/>
              <a:t>manutenção</a:t>
            </a:r>
            <a:r>
              <a:rPr lang="pt-BR" sz="2400" dirty="0"/>
              <a:t> do código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Permite </a:t>
            </a:r>
            <a:r>
              <a:rPr lang="pt-BR" sz="2400" b="1" dirty="0"/>
              <a:t>reuso</a:t>
            </a:r>
            <a:r>
              <a:rPr lang="pt-BR" sz="2400" dirty="0"/>
              <a:t> de lógica (reuse)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Facilita </a:t>
            </a:r>
            <a:r>
              <a:rPr lang="pt-BR" sz="2400" b="1" dirty="0"/>
              <a:t>testes</a:t>
            </a:r>
            <a:r>
              <a:rPr lang="pt-BR" sz="2400" dirty="0"/>
              <a:t> e depuração (</a:t>
            </a:r>
            <a:r>
              <a:rPr lang="pt-BR" sz="2400" dirty="0" err="1"/>
              <a:t>debugging</a:t>
            </a:r>
            <a:r>
              <a:rPr lang="pt-BR" sz="24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Reduz duplicação de código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Conceitos principais</a:t>
            </a:r>
            <a:endParaRPr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4BCD7F-0936-42A3-A1D6-22CE12481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Função (</a:t>
            </a:r>
            <a:r>
              <a:rPr lang="pt-BR" b="1" dirty="0" err="1"/>
              <a:t>Function</a:t>
            </a:r>
            <a:r>
              <a:rPr lang="pt-BR" b="1" dirty="0"/>
              <a:t>): </a:t>
            </a:r>
            <a:r>
              <a:rPr lang="pt-BR" dirty="0"/>
              <a:t>bloco com entrada (</a:t>
            </a:r>
            <a:r>
              <a:rPr lang="pt-BR" dirty="0" err="1"/>
              <a:t>parameters</a:t>
            </a:r>
            <a:r>
              <a:rPr lang="pt-BR" dirty="0"/>
              <a:t>) e retorno (</a:t>
            </a:r>
            <a:r>
              <a:rPr lang="pt-BR" dirty="0" err="1"/>
              <a:t>return</a:t>
            </a:r>
            <a:r>
              <a:rPr lang="pt-BR" dirty="0"/>
              <a:t>)</a:t>
            </a:r>
          </a:p>
          <a:p>
            <a:r>
              <a:rPr lang="pt-BR" b="1" dirty="0"/>
              <a:t>Procedimento (Procedure): </a:t>
            </a:r>
            <a:r>
              <a:rPr lang="pt-BR" dirty="0"/>
              <a:t>bloco que executa ação, sem retorno (</a:t>
            </a:r>
            <a:r>
              <a:rPr lang="pt-BR" dirty="0" err="1"/>
              <a:t>void</a:t>
            </a:r>
            <a:r>
              <a:rPr lang="pt-BR" dirty="0"/>
              <a:t>)</a:t>
            </a:r>
          </a:p>
          <a:p>
            <a:r>
              <a:rPr lang="pt-BR" b="1" dirty="0"/>
              <a:t>Assinatura (</a:t>
            </a:r>
            <a:r>
              <a:rPr lang="pt-BR" b="1" dirty="0" err="1"/>
              <a:t>signature</a:t>
            </a:r>
            <a:r>
              <a:rPr lang="pt-BR" b="1" dirty="0"/>
              <a:t>): </a:t>
            </a:r>
            <a:r>
              <a:rPr lang="pt-BR" dirty="0"/>
              <a:t>nome + parâmetros esperados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Estrutura básica (pseudocódigo)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 err="1"/>
              <a:t>funcao</a:t>
            </a:r>
            <a:r>
              <a:rPr lang="pt-BR" sz="2400" dirty="0"/>
              <a:t> </a:t>
            </a:r>
            <a:r>
              <a:rPr lang="pt-BR" sz="2400" dirty="0" err="1"/>
              <a:t>nome_funcao</a:t>
            </a:r>
            <a:r>
              <a:rPr lang="pt-BR" sz="2400" dirty="0"/>
              <a:t>(param1, param2)</a:t>
            </a:r>
          </a:p>
          <a:p>
            <a:pPr marL="0" indent="0">
              <a:buNone/>
            </a:pPr>
            <a:r>
              <a:rPr lang="pt-BR" sz="2400" dirty="0"/>
              <a:t>  	// processamento</a:t>
            </a:r>
          </a:p>
          <a:p>
            <a:pPr marL="0" indent="0">
              <a:buNone/>
            </a:pPr>
            <a:r>
              <a:rPr lang="pt-BR" sz="2400" dirty="0"/>
              <a:t>  	retorna valor</a:t>
            </a:r>
          </a:p>
          <a:p>
            <a:pPr marL="0" indent="0">
              <a:buNone/>
            </a:pPr>
            <a:r>
              <a:rPr lang="pt-BR" sz="2400" dirty="0" err="1"/>
              <a:t>fimfuncao</a:t>
            </a:r>
            <a:endParaRPr lang="pt-BR" sz="2400" dirty="0"/>
          </a:p>
          <a:p>
            <a:pPr marL="0" indent="0">
              <a:buNone/>
            </a:pPr>
            <a:r>
              <a:rPr lang="pt-BR" sz="2400" b="1" dirty="0"/>
              <a:t>ou</a:t>
            </a:r>
          </a:p>
          <a:p>
            <a:pPr marL="0" indent="0">
              <a:buNone/>
            </a:pPr>
            <a:r>
              <a:rPr lang="pt-BR" sz="2400" dirty="0"/>
              <a:t>procedimento </a:t>
            </a:r>
            <a:r>
              <a:rPr lang="pt-BR" sz="2400" dirty="0" err="1"/>
              <a:t>nome_procedimento</a:t>
            </a:r>
            <a:r>
              <a:rPr lang="pt-BR" sz="2400" dirty="0"/>
              <a:t>(param1)</a:t>
            </a:r>
          </a:p>
          <a:p>
            <a:pPr marL="0" indent="0">
              <a:buNone/>
            </a:pPr>
            <a:r>
              <a:rPr lang="pt-BR" sz="2400" dirty="0"/>
              <a:t>  	// ações</a:t>
            </a:r>
          </a:p>
          <a:p>
            <a:pPr marL="0" indent="0">
              <a:buNone/>
            </a:pPr>
            <a:r>
              <a:rPr lang="pt-BR" sz="2400" dirty="0" err="1"/>
              <a:t>fimprocedimento</a:t>
            </a:r>
            <a:endParaRPr lang="pt-BR" sz="2400" dirty="0"/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914095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Exemplo: função soma (com retorno)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400" dirty="0" err="1"/>
              <a:t>funcao</a:t>
            </a:r>
            <a:r>
              <a:rPr lang="pt-BR" sz="2400" dirty="0"/>
              <a:t> soma(a, b)</a:t>
            </a:r>
          </a:p>
          <a:p>
            <a:pPr marL="0" indent="0">
              <a:buNone/>
            </a:pPr>
            <a:r>
              <a:rPr lang="pt-BR" sz="2400" dirty="0"/>
              <a:t>  	resultado ← a + b</a:t>
            </a:r>
          </a:p>
          <a:p>
            <a:pPr marL="0" indent="0">
              <a:buNone/>
            </a:pPr>
            <a:r>
              <a:rPr lang="pt-BR" sz="2400" dirty="0"/>
              <a:t>  	retorna resultado</a:t>
            </a:r>
          </a:p>
          <a:p>
            <a:pPr marL="0" indent="0">
              <a:buNone/>
            </a:pPr>
            <a:r>
              <a:rPr lang="pt-BR" sz="2400" dirty="0" err="1"/>
              <a:t>Fimfuncao</a:t>
            </a:r>
            <a:endParaRPr lang="pt-BR" sz="2400" dirty="0"/>
          </a:p>
          <a:p>
            <a:r>
              <a:rPr lang="pt-BR" sz="2400" b="1" dirty="0"/>
              <a:t>Uso:</a:t>
            </a:r>
          </a:p>
          <a:p>
            <a:pPr marL="0" indent="0">
              <a:buNone/>
            </a:pPr>
            <a:r>
              <a:rPr lang="pt-BR" sz="2400" dirty="0"/>
              <a:t>x ← soma(3, 5)</a:t>
            </a:r>
          </a:p>
          <a:p>
            <a:pPr marL="0" indent="0">
              <a:buNone/>
            </a:pPr>
            <a:r>
              <a:rPr lang="pt-BR" sz="2400" dirty="0"/>
              <a:t>escreva x   // 8</a:t>
            </a:r>
          </a:p>
          <a:p>
            <a:pPr marL="0" indent="0">
              <a:buNone/>
            </a:pPr>
            <a:endParaRPr lang="pt-BR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Exemplo: procedimento de exibição (sem retorno)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400" dirty="0"/>
              <a:t>procedimento </a:t>
            </a:r>
            <a:r>
              <a:rPr lang="pt-BR" sz="2400" dirty="0" err="1"/>
              <a:t>mostrar_boas_vindas</a:t>
            </a:r>
            <a:r>
              <a:rPr lang="pt-BR" sz="2400" dirty="0"/>
              <a:t>(nome)</a:t>
            </a:r>
          </a:p>
          <a:p>
            <a:pPr marL="0" indent="0">
              <a:buNone/>
            </a:pPr>
            <a:r>
              <a:rPr lang="pt-BR" sz="2400" dirty="0"/>
              <a:t>  	escreva "Olá,", nome, "!"</a:t>
            </a:r>
          </a:p>
          <a:p>
            <a:pPr marL="0" indent="0">
              <a:buNone/>
            </a:pPr>
            <a:r>
              <a:rPr lang="pt-BR" sz="2400" dirty="0" err="1"/>
              <a:t>Fimprocedimento</a:t>
            </a:r>
            <a:endParaRPr lang="pt-BR" sz="2400" dirty="0"/>
          </a:p>
          <a:p>
            <a:r>
              <a:rPr lang="pt-BR" sz="2400" b="1" dirty="0"/>
              <a:t>Uso:</a:t>
            </a:r>
          </a:p>
          <a:p>
            <a:pPr marL="0" indent="0">
              <a:buNone/>
            </a:pPr>
            <a:r>
              <a:rPr lang="pt-BR" sz="2400" dirty="0" err="1"/>
              <a:t>mostrar_boas_vindas</a:t>
            </a:r>
            <a:r>
              <a:rPr lang="pt-BR" sz="2400" dirty="0"/>
              <a:t>("Ana")</a:t>
            </a:r>
          </a:p>
          <a:p>
            <a:pPr marL="0" indent="0">
              <a:buNone/>
            </a:pP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1131095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Parâmetros: por valor </a:t>
            </a:r>
            <a:r>
              <a:rPr lang="pt-BR" dirty="0" err="1"/>
              <a:t>vs</a:t>
            </a:r>
            <a:r>
              <a:rPr lang="pt-BR" dirty="0"/>
              <a:t> por referência (</a:t>
            </a:r>
            <a:r>
              <a:rPr lang="pt-BR" dirty="0" err="1"/>
              <a:t>concept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r>
              <a:rPr lang="pt-BR" sz="2400" b="1" dirty="0"/>
              <a:t>Por valor</a:t>
            </a:r>
            <a:r>
              <a:rPr lang="pt-BR" sz="2400" dirty="0"/>
              <a:t>: cópia do dado; mudanças internas não afetam o original</a:t>
            </a:r>
          </a:p>
          <a:p>
            <a:r>
              <a:rPr lang="pt-BR" sz="2400" b="1" dirty="0"/>
              <a:t>Por referência</a:t>
            </a:r>
            <a:r>
              <a:rPr lang="pt-BR" sz="2400" dirty="0"/>
              <a:t>: função recebe referência; alterações afetam o dado original.</a:t>
            </a:r>
          </a:p>
        </p:txBody>
      </p:sp>
    </p:spTree>
    <p:extLst>
      <p:ext uri="{BB962C8B-B14F-4D97-AF65-F5344CB8AC3E}">
        <p14:creationId xmlns:p14="http://schemas.microsoft.com/office/powerpoint/2010/main" val="3096899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Escopo de variáveis (</a:t>
            </a:r>
            <a:r>
              <a:rPr lang="pt-BR" dirty="0" err="1"/>
              <a:t>Scope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2450"/>
          </a:xfrm>
        </p:spPr>
        <p:txBody>
          <a:bodyPr>
            <a:noAutofit/>
          </a:bodyPr>
          <a:lstStyle/>
          <a:p>
            <a:r>
              <a:rPr lang="pt-BR" sz="2400" b="1" dirty="0"/>
              <a:t>Local:</a:t>
            </a:r>
            <a:r>
              <a:rPr lang="pt-BR" sz="2400" dirty="0"/>
              <a:t> variável dentro da função (visível só ali)</a:t>
            </a:r>
          </a:p>
          <a:p>
            <a:r>
              <a:rPr lang="pt-BR" sz="2400" b="1" dirty="0"/>
              <a:t>Global:</a:t>
            </a:r>
            <a:r>
              <a:rPr lang="pt-BR" sz="2400" dirty="0"/>
              <a:t> variável acessível em todo o programa (usar com cuidado)</a:t>
            </a:r>
          </a:p>
          <a:p>
            <a:r>
              <a:rPr lang="pt-BR" sz="2400" dirty="0"/>
              <a:t>Boas práticas: prefira variáveis locais</a:t>
            </a:r>
          </a:p>
        </p:txBody>
      </p:sp>
    </p:spTree>
    <p:extLst>
      <p:ext uri="{BB962C8B-B14F-4D97-AF65-F5344CB8AC3E}">
        <p14:creationId xmlns:p14="http://schemas.microsoft.com/office/powerpoint/2010/main" val="2536765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FFB8E-A925-4174-8739-C08A4B9D6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Boas práticas de design de função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A49645-D6E9-49B9-ADDA-9E883F83F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Função com </a:t>
            </a:r>
            <a:r>
              <a:rPr lang="pt-BR" b="1" dirty="0"/>
              <a:t>uma única responsabilidade (single </a:t>
            </a:r>
            <a:r>
              <a:rPr lang="pt-BR" b="1" dirty="0" err="1"/>
              <a:t>responsibility</a:t>
            </a:r>
            <a:r>
              <a:rPr lang="pt-BR" b="1" dirty="0"/>
              <a:t>)</a:t>
            </a:r>
          </a:p>
          <a:p>
            <a:r>
              <a:rPr lang="pt-BR" dirty="0"/>
              <a:t>Nomes claros e verbos descritivos (</a:t>
            </a:r>
            <a:r>
              <a:rPr lang="pt-BR" dirty="0" err="1"/>
              <a:t>calcular_media</a:t>
            </a:r>
            <a:r>
              <a:rPr lang="pt-BR" dirty="0"/>
              <a:t>, </a:t>
            </a:r>
            <a:r>
              <a:rPr lang="pt-BR" dirty="0" err="1"/>
              <a:t>buscar_item</a:t>
            </a:r>
            <a:r>
              <a:rPr lang="pt-BR" dirty="0"/>
              <a:t>)</a:t>
            </a:r>
          </a:p>
          <a:p>
            <a:r>
              <a:rPr lang="pt-BR" dirty="0"/>
              <a:t>Limitar número de parâmetros (preferir objetos/estruturas se necessário)</a:t>
            </a:r>
          </a:p>
          <a:p>
            <a:r>
              <a:rPr lang="pt-BR" dirty="0"/>
              <a:t>Documentar entradas/saídas</a:t>
            </a:r>
          </a:p>
        </p:txBody>
      </p:sp>
    </p:spTree>
    <p:extLst>
      <p:ext uri="{BB962C8B-B14F-4D97-AF65-F5344CB8AC3E}">
        <p14:creationId xmlns:p14="http://schemas.microsoft.com/office/powerpoint/2010/main" val="2048670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70B27-1C68-4081-ACCD-3AFCF40FC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Tratamento de erros dentro da função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646785-0DB0-4C42-A1F2-D949FB209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Validar parâmetros no início</a:t>
            </a:r>
          </a:p>
          <a:p>
            <a:r>
              <a:rPr lang="pt-BR" dirty="0"/>
              <a:t>Retornar códigos de erro ou lançar exceção conceitual</a:t>
            </a:r>
          </a:p>
          <a:p>
            <a:r>
              <a:rPr lang="pt-BR" dirty="0"/>
              <a:t>Evitar efeitos colaterais inesperados</a:t>
            </a:r>
          </a:p>
          <a:p>
            <a:r>
              <a:rPr lang="pt-BR" dirty="0"/>
              <a:t>Exemplo:</a:t>
            </a:r>
          </a:p>
          <a:p>
            <a:pPr marL="0" indent="0">
              <a:buNone/>
            </a:pPr>
            <a:r>
              <a:rPr lang="pt-BR" dirty="0" err="1"/>
              <a:t>funcao</a:t>
            </a:r>
            <a:r>
              <a:rPr lang="pt-BR" dirty="0"/>
              <a:t> dividir(a, b)</a:t>
            </a:r>
          </a:p>
          <a:p>
            <a:pPr marL="0" indent="0">
              <a:buNone/>
            </a:pPr>
            <a:r>
              <a:rPr lang="pt-BR" dirty="0"/>
              <a:t>  se b = 0 </a:t>
            </a:r>
            <a:r>
              <a:rPr lang="pt-BR" dirty="0" err="1"/>
              <a:t>entao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	retorna "ERRO: </a:t>
            </a:r>
            <a:r>
              <a:rPr lang="pt-BR" dirty="0" err="1"/>
              <a:t>divisao</a:t>
            </a:r>
            <a:r>
              <a:rPr lang="pt-BR" dirty="0"/>
              <a:t> por zero"</a:t>
            </a:r>
          </a:p>
          <a:p>
            <a:pPr marL="0" indent="0">
              <a:buNone/>
            </a:pPr>
            <a:r>
              <a:rPr lang="pt-BR" dirty="0"/>
              <a:t>  		</a:t>
            </a:r>
            <a:r>
              <a:rPr lang="pt-BR" dirty="0" err="1"/>
              <a:t>fimse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	retorna a / b</a:t>
            </a:r>
          </a:p>
          <a:p>
            <a:pPr marL="0" indent="0">
              <a:buNone/>
            </a:pPr>
            <a:r>
              <a:rPr lang="pt-BR" dirty="0" err="1"/>
              <a:t>fimfuncao</a:t>
            </a:r>
            <a:endParaRPr lang="pt-BR" dirty="0"/>
          </a:p>
          <a:p>
            <a:pPr marL="0" indent="0">
              <a:buNone/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032646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17800-2A83-4D50-87BB-ECB1CA2B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Exemplos práticos compostos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1290BB-A4C3-4CDA-AAC0-179303B16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Função para fatorial (iterativa/recursiva)</a:t>
            </a:r>
          </a:p>
          <a:p>
            <a:r>
              <a:rPr lang="pt-BR" dirty="0"/>
              <a:t>Função para verificar número primo</a:t>
            </a:r>
          </a:p>
          <a:p>
            <a:r>
              <a:rPr lang="pt-BR" dirty="0"/>
              <a:t>Procedimento para imprimir relatório</a:t>
            </a:r>
          </a:p>
        </p:txBody>
      </p:sp>
    </p:spTree>
    <p:extLst>
      <p:ext uri="{BB962C8B-B14F-4D97-AF65-F5344CB8AC3E}">
        <p14:creationId xmlns:p14="http://schemas.microsoft.com/office/powerpoint/2010/main" val="4017615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17800-2A83-4D50-87BB-ECB1CA2B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Exemplo: fatorial (iterativo)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1290BB-A4C3-4CDA-AAC0-179303B16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err="1"/>
              <a:t>funcao</a:t>
            </a:r>
            <a:r>
              <a:rPr lang="pt-BR" dirty="0"/>
              <a:t> fatorial(n)</a:t>
            </a:r>
          </a:p>
          <a:p>
            <a:pPr marL="0" indent="0">
              <a:buNone/>
            </a:pPr>
            <a:r>
              <a:rPr lang="pt-BR" dirty="0"/>
              <a:t>  	resultado ← 1</a:t>
            </a:r>
          </a:p>
          <a:p>
            <a:pPr marL="0" indent="0">
              <a:buNone/>
            </a:pPr>
            <a:r>
              <a:rPr lang="pt-BR" dirty="0"/>
              <a:t>  	para i de 1 ate n faca</a:t>
            </a:r>
          </a:p>
          <a:p>
            <a:pPr marL="0" indent="0">
              <a:buNone/>
            </a:pPr>
            <a:r>
              <a:rPr lang="pt-BR" dirty="0"/>
              <a:t>     	resultado ← resultado * i</a:t>
            </a:r>
          </a:p>
          <a:p>
            <a:pPr marL="0" indent="0">
              <a:buNone/>
            </a:pPr>
            <a:r>
              <a:rPr lang="pt-BR" dirty="0"/>
              <a:t>  	</a:t>
            </a:r>
            <a:r>
              <a:rPr lang="pt-BR" dirty="0" err="1"/>
              <a:t>fimpara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	retorna resultado</a:t>
            </a:r>
          </a:p>
          <a:p>
            <a:pPr marL="0" indent="0">
              <a:buNone/>
            </a:pPr>
            <a:r>
              <a:rPr lang="pt-BR" dirty="0" err="1"/>
              <a:t>fimfuncao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609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17800-2A83-4D50-87BB-ECB1CA2B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Exemplo: fatorial (recursivo)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1290BB-A4C3-4CDA-AAC0-179303B16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err="1"/>
              <a:t>funcao</a:t>
            </a:r>
            <a:r>
              <a:rPr lang="pt-BR" dirty="0"/>
              <a:t> fatorial(n)</a:t>
            </a:r>
          </a:p>
          <a:p>
            <a:pPr marL="0" indent="0">
              <a:buNone/>
            </a:pPr>
            <a:r>
              <a:rPr lang="pt-BR" dirty="0"/>
              <a:t>  	se n = 0 </a:t>
            </a:r>
            <a:r>
              <a:rPr lang="pt-BR" dirty="0" err="1"/>
              <a:t>entao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  	retorna 1</a:t>
            </a:r>
          </a:p>
          <a:p>
            <a:pPr marL="0" indent="0">
              <a:buNone/>
            </a:pPr>
            <a:r>
              <a:rPr lang="pt-BR" dirty="0"/>
              <a:t>  	</a:t>
            </a:r>
            <a:r>
              <a:rPr lang="pt-BR" dirty="0" err="1"/>
              <a:t>fimse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	retorna n * fatorial(n - 1)</a:t>
            </a:r>
          </a:p>
          <a:p>
            <a:pPr marL="0" indent="0">
              <a:buNone/>
            </a:pPr>
            <a:r>
              <a:rPr lang="pt-BR" dirty="0" err="1"/>
              <a:t>fimfuncao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34697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7199A-0997-4E49-8976-2B57A918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Testes unitários básicos (</a:t>
            </a:r>
            <a:r>
              <a:rPr lang="pt-BR" dirty="0" err="1"/>
              <a:t>concept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AF03E4-E087-495B-9B8C-6DEE112A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Teste funções isoladamente com casos: entradas típicas, limites, erros.</a:t>
            </a:r>
          </a:p>
          <a:p>
            <a:r>
              <a:rPr lang="pt-BR" dirty="0"/>
              <a:t>Exemplo: soma(2,3) = 5, soma(0,0) = 0</a:t>
            </a:r>
          </a:p>
          <a:p>
            <a:r>
              <a:rPr lang="pt-BR" dirty="0"/>
              <a:t>Documente casos de teste simples no comentário</a:t>
            </a:r>
          </a:p>
        </p:txBody>
      </p:sp>
    </p:spTree>
    <p:extLst>
      <p:ext uri="{BB962C8B-B14F-4D97-AF65-F5344CB8AC3E}">
        <p14:creationId xmlns:p14="http://schemas.microsoft.com/office/powerpoint/2010/main" val="1939791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7199A-0997-4E49-8976-2B57A918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Vantagens práticas da modularização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AF03E4-E087-495B-9B8C-6DEE112A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dirty="0"/>
              <a:t>Facilita </a:t>
            </a:r>
            <a:r>
              <a:rPr lang="pt-BR" b="1" dirty="0"/>
              <a:t>reutilização</a:t>
            </a:r>
            <a:r>
              <a:rPr lang="pt-BR" dirty="0"/>
              <a:t> entre projetos</a:t>
            </a:r>
          </a:p>
          <a:p>
            <a:r>
              <a:rPr lang="pt-BR" dirty="0"/>
              <a:t>Permite </a:t>
            </a:r>
            <a:r>
              <a:rPr lang="pt-BR" b="1" dirty="0"/>
              <a:t>colaboração</a:t>
            </a:r>
            <a:r>
              <a:rPr lang="pt-BR" dirty="0"/>
              <a:t> (vários </a:t>
            </a:r>
            <a:r>
              <a:rPr lang="pt-BR" dirty="0" err="1"/>
              <a:t>devs</a:t>
            </a:r>
            <a:r>
              <a:rPr lang="pt-BR" dirty="0"/>
              <a:t> trabalhando em funções diferentes)</a:t>
            </a:r>
          </a:p>
          <a:p>
            <a:r>
              <a:rPr lang="pt-BR" dirty="0"/>
              <a:t>Melhora </a:t>
            </a:r>
            <a:r>
              <a:rPr lang="pt-BR" b="1" dirty="0"/>
              <a:t>legibilidade</a:t>
            </a:r>
            <a:r>
              <a:rPr lang="pt-BR" dirty="0"/>
              <a:t> e acelera manutenção</a:t>
            </a:r>
          </a:p>
        </p:txBody>
      </p:sp>
    </p:spTree>
    <p:extLst>
      <p:ext uri="{BB962C8B-B14F-4D97-AF65-F5344CB8AC3E}">
        <p14:creationId xmlns:p14="http://schemas.microsoft.com/office/powerpoint/2010/main" val="3422717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F9250-9E34-4757-9F7B-ACD516EE3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Dica final / checklist antes de criar uma função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631854-FCBF-47B9-B0EA-1E5FBDCA2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função tem responsabilidade única?</a:t>
            </a:r>
          </a:p>
          <a:p>
            <a:r>
              <a:rPr lang="pt-BR" dirty="0"/>
              <a:t>O nome é descritivo?</a:t>
            </a:r>
          </a:p>
          <a:p>
            <a:r>
              <a:rPr lang="pt-BR" dirty="0"/>
              <a:t>Parâmetros mínimos e claros?</a:t>
            </a:r>
          </a:p>
          <a:p>
            <a:r>
              <a:rPr lang="pt-BR" dirty="0"/>
              <a:t>Validações de entrada?</a:t>
            </a:r>
          </a:p>
          <a:p>
            <a:r>
              <a:rPr lang="pt-BR" dirty="0"/>
              <a:t>Documentação/simples comentário?</a:t>
            </a:r>
          </a:p>
        </p:txBody>
      </p:sp>
    </p:spTree>
    <p:extLst>
      <p:ext uri="{BB962C8B-B14F-4D97-AF65-F5344CB8AC3E}">
        <p14:creationId xmlns:p14="http://schemas.microsoft.com/office/powerpoint/2010/main" val="983560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F9250-9E34-4757-9F7B-ACD516EE3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631854-FCBF-47B9-B0EA-1E5FBDCA2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Funções e procedimentos permitem </a:t>
            </a:r>
            <a:r>
              <a:rPr lang="pt-BR" b="1" dirty="0"/>
              <a:t>modularizar</a:t>
            </a:r>
            <a:r>
              <a:rPr lang="pt-BR" dirty="0"/>
              <a:t> o </a:t>
            </a:r>
            <a:r>
              <a:rPr lang="pt-BR" b="1" dirty="0"/>
              <a:t>algoritmo</a:t>
            </a:r>
            <a:r>
              <a:rPr lang="pt-BR" dirty="0"/>
              <a:t>, dividindo o código em partes menores e reutilizáveis.</a:t>
            </a:r>
          </a:p>
          <a:p>
            <a:r>
              <a:rPr lang="pt-BR" dirty="0"/>
              <a:t>Melhoram </a:t>
            </a:r>
            <a:r>
              <a:rPr lang="pt-BR" b="1" dirty="0"/>
              <a:t>organização</a:t>
            </a:r>
            <a:r>
              <a:rPr lang="pt-BR" dirty="0"/>
              <a:t>, </a:t>
            </a:r>
            <a:r>
              <a:rPr lang="pt-BR" b="1" dirty="0"/>
              <a:t>legibilidade</a:t>
            </a:r>
            <a:r>
              <a:rPr lang="pt-BR" dirty="0"/>
              <a:t> e </a:t>
            </a:r>
            <a:r>
              <a:rPr lang="pt-BR" b="1" dirty="0"/>
              <a:t>manutenção</a:t>
            </a:r>
            <a:r>
              <a:rPr lang="pt-BR" dirty="0"/>
              <a:t> do código.</a:t>
            </a:r>
          </a:p>
          <a:p>
            <a:r>
              <a:rPr lang="pt-BR" b="1" dirty="0"/>
              <a:t>Funções (</a:t>
            </a:r>
            <a:r>
              <a:rPr lang="pt-BR" b="1" dirty="0" err="1"/>
              <a:t>Functions</a:t>
            </a:r>
            <a:r>
              <a:rPr lang="pt-BR" b="1" dirty="0"/>
              <a:t>) </a:t>
            </a:r>
            <a:r>
              <a:rPr lang="pt-BR" dirty="0"/>
              <a:t>retornam valores; </a:t>
            </a:r>
            <a:r>
              <a:rPr lang="pt-BR" b="1" dirty="0"/>
              <a:t>Procedimentos (Procedures) </a:t>
            </a:r>
            <a:r>
              <a:rPr lang="pt-BR" dirty="0"/>
              <a:t>executam ações.</a:t>
            </a:r>
          </a:p>
          <a:p>
            <a:r>
              <a:rPr lang="pt-BR" dirty="0"/>
              <a:t>Boas práticas incluem:</a:t>
            </a:r>
          </a:p>
          <a:p>
            <a:pPr lvl="1"/>
            <a:r>
              <a:rPr lang="pt-BR" dirty="0"/>
              <a:t>Uma função = uma responsabilidade (single </a:t>
            </a:r>
            <a:r>
              <a:rPr lang="pt-BR" dirty="0" err="1"/>
              <a:t>responsibility</a:t>
            </a:r>
            <a:r>
              <a:rPr lang="pt-BR" dirty="0"/>
              <a:t>).</a:t>
            </a:r>
          </a:p>
          <a:p>
            <a:pPr lvl="1"/>
            <a:r>
              <a:rPr lang="pt-BR" dirty="0"/>
              <a:t>Nomes claros e verbos descritivos.</a:t>
            </a:r>
          </a:p>
          <a:p>
            <a:pPr lvl="1"/>
            <a:r>
              <a:rPr lang="pt-BR" dirty="0"/>
              <a:t>Validação de parâmetros e uso de variáveis locais.</a:t>
            </a:r>
          </a:p>
          <a:p>
            <a:r>
              <a:rPr lang="pt-BR" dirty="0"/>
              <a:t>O uso correto dessas estruturas é essencial para a </a:t>
            </a:r>
            <a:r>
              <a:rPr lang="pt-BR" b="1" dirty="0"/>
              <a:t>recursão</a:t>
            </a:r>
            <a:r>
              <a:rPr lang="pt-BR" dirty="0"/>
              <a:t> e </a:t>
            </a:r>
            <a:r>
              <a:rPr lang="pt-BR" b="1" dirty="0"/>
              <a:t>programação estruturada</a:t>
            </a:r>
            <a:r>
              <a:rPr lang="pt-BR" dirty="0"/>
              <a:t>. </a:t>
            </a:r>
          </a:p>
          <a:p>
            <a:r>
              <a:rPr lang="pt-BR" b="1" dirty="0"/>
              <a:t>Resumo:</a:t>
            </a:r>
          </a:p>
          <a:p>
            <a:pPr marL="0" indent="0">
              <a:buNone/>
            </a:pPr>
            <a:r>
              <a:rPr lang="pt-BR" dirty="0"/>
              <a:t>“Modularizar é pensar em partes simples que, juntas, resolvem problemas complexos.”</a:t>
            </a:r>
          </a:p>
        </p:txBody>
      </p:sp>
    </p:spTree>
    <p:extLst>
      <p:ext uri="{BB962C8B-B14F-4D97-AF65-F5344CB8AC3E}">
        <p14:creationId xmlns:p14="http://schemas.microsoft.com/office/powerpoint/2010/main" val="1564735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530</Words>
  <Application>Microsoft Office PowerPoint</Application>
  <PresentationFormat>Apresentação na tela (4:3)</PresentationFormat>
  <Paragraphs>101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Etapa 7 — Funções e Procedimentos (Functions and Procedures)</vt:lpstr>
      <vt:lpstr>Por que modularizar?</vt:lpstr>
      <vt:lpstr>Conceitos principais</vt:lpstr>
      <vt:lpstr>Estrutura básica (pseudocódigo)</vt:lpstr>
      <vt:lpstr>Exemplo: função soma (com retorno)</vt:lpstr>
      <vt:lpstr>Exemplo: procedimento de exibição (sem retorno)</vt:lpstr>
      <vt:lpstr>Parâmetros: por valor vs por referência (concept)</vt:lpstr>
      <vt:lpstr>Escopo de variáveis (Scope)</vt:lpstr>
      <vt:lpstr>Boas práticas de design de função</vt:lpstr>
      <vt:lpstr>Tratamento de erros dentro da função</vt:lpstr>
      <vt:lpstr>Exemplos práticos compostos</vt:lpstr>
      <vt:lpstr>Exemplo: fatorial (iterativo)</vt:lpstr>
      <vt:lpstr>Exemplo: fatorial (recursivo)</vt:lpstr>
      <vt:lpstr>Testes unitários básicos (concept)</vt:lpstr>
      <vt:lpstr>Vantagens práticas da modularização</vt:lpstr>
      <vt:lpstr>Dica final / checklist antes de criar uma função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1 - Introdução a Algoritmos e Pseudocódigo</dc:title>
  <dc:subject/>
  <dc:creator>Murilo Rocha</dc:creator>
  <cp:keywords/>
  <dc:description>generated using python-pptx</dc:description>
  <cp:lastModifiedBy>Murilo Rocha</cp:lastModifiedBy>
  <cp:revision>57</cp:revision>
  <dcterms:created xsi:type="dcterms:W3CDTF">2013-01-27T09:14:16Z</dcterms:created>
  <dcterms:modified xsi:type="dcterms:W3CDTF">2025-11-06T19:22:37Z</dcterms:modified>
  <cp:category/>
</cp:coreProperties>
</file>