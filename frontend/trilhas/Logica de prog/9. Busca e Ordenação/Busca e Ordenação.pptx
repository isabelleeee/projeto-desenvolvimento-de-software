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81" r:id="rId5"/>
    <p:sldId id="274" r:id="rId6"/>
    <p:sldId id="260" r:id="rId7"/>
    <p:sldId id="275" r:id="rId8"/>
    <p:sldId id="282" r:id="rId9"/>
    <p:sldId id="283" r:id="rId10"/>
    <p:sldId id="276" r:id="rId11"/>
    <p:sldId id="284" r:id="rId12"/>
    <p:sldId id="263" r:id="rId13"/>
    <p:sldId id="264" r:id="rId14"/>
    <p:sldId id="265" r:id="rId15"/>
    <p:sldId id="27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Etapa 9 — Busca e Ordenação (</a:t>
            </a:r>
            <a:r>
              <a:rPr lang="pt-BR" dirty="0" err="1"/>
              <a:t>Searching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Sorting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/>
              <a:t>Busca (</a:t>
            </a:r>
            <a:r>
              <a:rPr lang="pt-BR" sz="2400" b="1" dirty="0" err="1"/>
              <a:t>Search</a:t>
            </a:r>
            <a:r>
              <a:rPr lang="pt-BR" sz="2400" b="1" dirty="0"/>
              <a:t>)</a:t>
            </a:r>
            <a:r>
              <a:rPr lang="pt-BR" sz="2400" dirty="0"/>
              <a:t> → encontrar um valor dentro de um conjunto de dados.</a:t>
            </a:r>
          </a:p>
          <a:p>
            <a:r>
              <a:rPr lang="pt-BR" sz="2400" b="1" dirty="0"/>
              <a:t>Ordenação (</a:t>
            </a:r>
            <a:r>
              <a:rPr lang="pt-BR" sz="2400" b="1" dirty="0" err="1"/>
              <a:t>Sorting</a:t>
            </a:r>
            <a:r>
              <a:rPr lang="pt-BR" sz="2400" b="1" dirty="0"/>
              <a:t>)</a:t>
            </a:r>
            <a:r>
              <a:rPr lang="pt-BR" sz="2400" dirty="0"/>
              <a:t> → organizar os dados em uma sequência lógica (crescente ou decrescente).</a:t>
            </a:r>
          </a:p>
          <a:p>
            <a:r>
              <a:rPr lang="pt-BR" sz="2400" dirty="0"/>
              <a:t>São operações </a:t>
            </a:r>
            <a:r>
              <a:rPr lang="pt-BR" sz="2400" b="1" dirty="0"/>
              <a:t>fundamentais</a:t>
            </a:r>
            <a:r>
              <a:rPr lang="pt-BR" sz="2400" dirty="0"/>
              <a:t> em algoritmos e estruturas de dados.</a:t>
            </a:r>
          </a:p>
          <a:p>
            <a:r>
              <a:rPr lang="pt-BR" sz="2400" dirty="0"/>
              <a:t>“Buscar e ordenar são as bases para entender o funcionamento de bancos de dados, listas e algoritmos avançados.”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Busca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Busca Sequencial (Linear </a:t>
            </a:r>
            <a:r>
              <a:rPr lang="pt-BR" b="1" dirty="0" err="1"/>
              <a:t>Search</a:t>
            </a:r>
            <a:r>
              <a:rPr lang="pt-BR" b="1" dirty="0"/>
              <a:t>)</a:t>
            </a:r>
          </a:p>
          <a:p>
            <a:pPr lvl="1"/>
            <a:r>
              <a:rPr lang="pt-BR" dirty="0"/>
              <a:t>Verifica cada elemento da lista até encontrar o alvo.</a:t>
            </a:r>
          </a:p>
          <a:p>
            <a:pPr lvl="1"/>
            <a:r>
              <a:rPr lang="pt-BR" dirty="0"/>
              <a:t>Simples, mas pouco eficiente para listas grandes.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Busca Binária (</a:t>
            </a:r>
            <a:r>
              <a:rPr lang="pt-BR" b="1" dirty="0" err="1"/>
              <a:t>Binary</a:t>
            </a:r>
            <a:r>
              <a:rPr lang="pt-BR" b="1" dirty="0"/>
              <a:t> </a:t>
            </a:r>
            <a:r>
              <a:rPr lang="pt-BR" b="1" dirty="0" err="1"/>
              <a:t>Search</a:t>
            </a:r>
            <a:r>
              <a:rPr lang="pt-BR" b="1" dirty="0"/>
              <a:t>)</a:t>
            </a:r>
          </a:p>
          <a:p>
            <a:pPr lvl="1"/>
            <a:r>
              <a:rPr lang="pt-BR" dirty="0"/>
              <a:t>Requer lista </a:t>
            </a:r>
            <a:r>
              <a:rPr lang="pt-BR" b="1" dirty="0"/>
              <a:t>ordenada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Divide o conjunto ao meio a cada passo, reduzindo o número de comparações.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Busca Sequencial (Linear </a:t>
            </a:r>
            <a:r>
              <a:rPr lang="pt-BR" dirty="0" err="1"/>
              <a:t>Search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Pseudocódigo:</a:t>
            </a:r>
          </a:p>
          <a:p>
            <a:pPr marL="0" indent="0">
              <a:buNone/>
            </a:pPr>
            <a:r>
              <a:rPr lang="pt-BR" dirty="0" err="1"/>
              <a:t>funcao</a:t>
            </a:r>
            <a:r>
              <a:rPr lang="pt-BR" dirty="0"/>
              <a:t> </a:t>
            </a:r>
            <a:r>
              <a:rPr lang="pt-BR" dirty="0" err="1"/>
              <a:t>busca_linear</a:t>
            </a:r>
            <a:r>
              <a:rPr lang="pt-BR" dirty="0"/>
              <a:t>(vetor, valor)</a:t>
            </a:r>
          </a:p>
          <a:p>
            <a:pPr marL="0" indent="0">
              <a:buNone/>
            </a:pPr>
            <a:r>
              <a:rPr lang="pt-BR" dirty="0"/>
              <a:t>  	para i de 1 até tamanho(vetor) faça</a:t>
            </a:r>
          </a:p>
          <a:p>
            <a:pPr marL="0" indent="0">
              <a:buNone/>
            </a:pPr>
            <a:r>
              <a:rPr lang="pt-BR" dirty="0"/>
              <a:t>     		se vetor[i] = valor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   		retorna i</a:t>
            </a:r>
          </a:p>
          <a:p>
            <a:pPr marL="0" indent="0">
              <a:buNone/>
            </a:pPr>
            <a:r>
              <a:rPr lang="pt-BR" dirty="0"/>
              <a:t>     	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	retorna -1 // não encontrado</a:t>
            </a:r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  <a:p>
            <a:r>
              <a:rPr lang="pt-BR" b="1" dirty="0"/>
              <a:t>Vantagem:</a:t>
            </a:r>
            <a:r>
              <a:rPr lang="pt-BR" dirty="0"/>
              <a:t> simples de implementar.</a:t>
            </a:r>
          </a:p>
          <a:p>
            <a:r>
              <a:rPr lang="pt-BR" b="1" dirty="0"/>
              <a:t>Desvantagem:</a:t>
            </a:r>
            <a:r>
              <a:rPr lang="pt-BR" dirty="0"/>
              <a:t> ineficiente em listas grandes (O(n)).</a:t>
            </a:r>
          </a:p>
        </p:txBody>
      </p:sp>
    </p:spTree>
    <p:extLst>
      <p:ext uri="{BB962C8B-B14F-4D97-AF65-F5344CB8AC3E}">
        <p14:creationId xmlns:p14="http://schemas.microsoft.com/office/powerpoint/2010/main" val="255589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Busca Binária (</a:t>
            </a:r>
            <a:r>
              <a:rPr lang="pt-BR" dirty="0" err="1"/>
              <a:t>Binary</a:t>
            </a:r>
            <a:r>
              <a:rPr lang="pt-BR" dirty="0"/>
              <a:t> </a:t>
            </a:r>
            <a:r>
              <a:rPr lang="pt-BR" dirty="0" err="1"/>
              <a:t>Search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1400" b="1" dirty="0"/>
              <a:t>Pseudocódigo:</a:t>
            </a:r>
          </a:p>
          <a:p>
            <a:pPr marL="0" indent="0">
              <a:buNone/>
            </a:pPr>
            <a:r>
              <a:rPr lang="pt-BR" sz="1400" dirty="0" err="1"/>
              <a:t>funcao</a:t>
            </a:r>
            <a:r>
              <a:rPr lang="pt-BR" sz="1400" dirty="0"/>
              <a:t> </a:t>
            </a:r>
            <a:r>
              <a:rPr lang="pt-BR" sz="1400" dirty="0" err="1"/>
              <a:t>busca_binaria</a:t>
            </a:r>
            <a:r>
              <a:rPr lang="pt-BR" sz="1400" dirty="0"/>
              <a:t>(vetor, valor)</a:t>
            </a:r>
          </a:p>
          <a:p>
            <a:pPr marL="0" indent="0">
              <a:buNone/>
            </a:pPr>
            <a:r>
              <a:rPr lang="pt-BR" sz="1400" dirty="0"/>
              <a:t>  	inicio ← 1</a:t>
            </a:r>
          </a:p>
          <a:p>
            <a:pPr marL="0" indent="0">
              <a:buNone/>
            </a:pPr>
            <a:r>
              <a:rPr lang="pt-BR" sz="1400" dirty="0"/>
              <a:t>  	fim ← tamanho(vetor)</a:t>
            </a:r>
          </a:p>
          <a:p>
            <a:pPr marL="0" indent="0">
              <a:buNone/>
            </a:pPr>
            <a:r>
              <a:rPr lang="pt-BR" sz="1400" dirty="0"/>
              <a:t>  	enquanto inicio &lt;= fim faça</a:t>
            </a:r>
          </a:p>
          <a:p>
            <a:pPr marL="0" indent="0">
              <a:buNone/>
            </a:pPr>
            <a:r>
              <a:rPr lang="pt-BR" sz="1400" dirty="0"/>
              <a:t>     		meio ← (inicio + fim) / 2</a:t>
            </a:r>
          </a:p>
          <a:p>
            <a:pPr marL="0" indent="0">
              <a:buNone/>
            </a:pPr>
            <a:r>
              <a:rPr lang="pt-BR" sz="1400" dirty="0"/>
              <a:t>     		se vetor[meio] = valor </a:t>
            </a:r>
            <a:r>
              <a:rPr lang="pt-BR" sz="1400" dirty="0" err="1"/>
              <a:t>entao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        			retorna meio</a:t>
            </a:r>
          </a:p>
          <a:p>
            <a:pPr marL="0" indent="0">
              <a:buNone/>
            </a:pPr>
            <a:r>
              <a:rPr lang="pt-BR" sz="1400" dirty="0"/>
              <a:t>     		</a:t>
            </a:r>
            <a:r>
              <a:rPr lang="pt-BR" sz="1400" dirty="0" err="1"/>
              <a:t>senao</a:t>
            </a:r>
            <a:r>
              <a:rPr lang="pt-BR" sz="1400" dirty="0"/>
              <a:t> se vetor[meio] &lt; valor </a:t>
            </a:r>
            <a:r>
              <a:rPr lang="pt-BR" sz="1400" dirty="0" err="1"/>
              <a:t>entao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        			inicio ← meio + 1</a:t>
            </a:r>
          </a:p>
          <a:p>
            <a:pPr marL="0" indent="0">
              <a:buNone/>
            </a:pPr>
            <a:r>
              <a:rPr lang="pt-BR" sz="1400" dirty="0"/>
              <a:t>     		</a:t>
            </a:r>
            <a:r>
              <a:rPr lang="pt-BR" sz="1400" dirty="0" err="1"/>
              <a:t>senao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        			fim ← meio - 1</a:t>
            </a:r>
          </a:p>
          <a:p>
            <a:pPr marL="0" indent="0">
              <a:buNone/>
            </a:pPr>
            <a:r>
              <a:rPr lang="pt-BR" sz="1400" dirty="0"/>
              <a:t>     		</a:t>
            </a:r>
            <a:r>
              <a:rPr lang="pt-BR" sz="1400" dirty="0" err="1"/>
              <a:t>fimse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  	</a:t>
            </a:r>
            <a:r>
              <a:rPr lang="pt-BR" sz="1400" dirty="0" err="1"/>
              <a:t>fimenquanto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  	retorna -1</a:t>
            </a:r>
          </a:p>
          <a:p>
            <a:pPr marL="0" indent="0">
              <a:buNone/>
            </a:pPr>
            <a:r>
              <a:rPr lang="pt-BR" sz="1400" dirty="0" err="1"/>
              <a:t>fimfuncao</a:t>
            </a:r>
            <a:endParaRPr lang="pt-BR" sz="1400" dirty="0"/>
          </a:p>
          <a:p>
            <a:r>
              <a:rPr lang="pt-BR" sz="1400" b="1" dirty="0"/>
              <a:t>Complexidade:</a:t>
            </a:r>
            <a:r>
              <a:rPr lang="pt-BR" sz="1400" dirty="0"/>
              <a:t> O(log n)</a:t>
            </a:r>
          </a:p>
          <a:p>
            <a:r>
              <a:rPr lang="pt-BR" sz="1400" b="1" dirty="0"/>
              <a:t>Mais rápida</a:t>
            </a:r>
            <a:r>
              <a:rPr lang="pt-BR" sz="1400" dirty="0"/>
              <a:t>, porém exige lista </a:t>
            </a:r>
            <a:r>
              <a:rPr lang="pt-BR" sz="1400" b="1" dirty="0"/>
              <a:t>ordenada</a:t>
            </a:r>
            <a:r>
              <a:rPr lang="pt-B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409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Ordenação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800" b="1" dirty="0" err="1"/>
              <a:t>Bubble</a:t>
            </a:r>
            <a:r>
              <a:rPr lang="pt-BR" sz="2800" b="1" dirty="0"/>
              <a:t> </a:t>
            </a:r>
            <a:r>
              <a:rPr lang="pt-BR" sz="2800" b="1" dirty="0" err="1"/>
              <a:t>Sort</a:t>
            </a:r>
            <a:r>
              <a:rPr lang="pt-BR" sz="2800" b="1" dirty="0"/>
              <a:t> </a:t>
            </a:r>
            <a:r>
              <a:rPr lang="pt-BR" sz="2800" dirty="0"/>
              <a:t>— compara pares de elementos vizinhos e troca-os se estiverem fora de ordem.</a:t>
            </a:r>
          </a:p>
          <a:p>
            <a:r>
              <a:rPr lang="pt-BR" sz="2800" b="1" dirty="0" err="1"/>
              <a:t>Selection</a:t>
            </a:r>
            <a:r>
              <a:rPr lang="pt-BR" sz="2800" b="1" dirty="0"/>
              <a:t> </a:t>
            </a:r>
            <a:r>
              <a:rPr lang="pt-BR" sz="2800" b="1" dirty="0" err="1"/>
              <a:t>Sort</a:t>
            </a:r>
            <a:r>
              <a:rPr lang="pt-BR" sz="2800" b="1" dirty="0"/>
              <a:t> </a:t>
            </a:r>
            <a:r>
              <a:rPr lang="pt-BR" sz="2800" dirty="0"/>
              <a:t>— encontra o menor elemento e o move para o início.</a:t>
            </a:r>
          </a:p>
          <a:p>
            <a:r>
              <a:rPr lang="pt-BR" sz="2800" b="1" dirty="0" err="1"/>
              <a:t>Insertion</a:t>
            </a:r>
            <a:r>
              <a:rPr lang="pt-BR" sz="2800" b="1" dirty="0"/>
              <a:t> </a:t>
            </a:r>
            <a:r>
              <a:rPr lang="pt-BR" sz="2800" b="1" dirty="0" err="1"/>
              <a:t>Sort</a:t>
            </a:r>
            <a:r>
              <a:rPr lang="pt-BR" sz="2800" b="1" dirty="0"/>
              <a:t> </a:t>
            </a:r>
            <a:r>
              <a:rPr lang="pt-BR" sz="2800" dirty="0"/>
              <a:t>— insere elementos ordenadamente em uma lista parcialmente ordenada.</a:t>
            </a:r>
          </a:p>
          <a:p>
            <a:r>
              <a:rPr lang="pt-BR" sz="2800" b="1" dirty="0"/>
              <a:t>Merge </a:t>
            </a:r>
            <a:r>
              <a:rPr lang="pt-BR" sz="2800" b="1" dirty="0" err="1"/>
              <a:t>Sort</a:t>
            </a:r>
            <a:r>
              <a:rPr lang="pt-BR" sz="2800" b="1" dirty="0"/>
              <a:t> / </a:t>
            </a:r>
            <a:r>
              <a:rPr lang="pt-BR" sz="2800" b="1" dirty="0" err="1"/>
              <a:t>Quick</a:t>
            </a:r>
            <a:r>
              <a:rPr lang="pt-BR" sz="2800" b="1" dirty="0"/>
              <a:t> </a:t>
            </a:r>
            <a:r>
              <a:rPr lang="pt-BR" sz="2800" b="1" dirty="0" err="1"/>
              <a:t>Sort</a:t>
            </a:r>
            <a:r>
              <a:rPr lang="pt-BR" sz="2800" b="1" dirty="0"/>
              <a:t> </a:t>
            </a:r>
            <a:r>
              <a:rPr lang="pt-BR" sz="2800" dirty="0"/>
              <a:t>— algoritmos mais eficientes, baseados em </a:t>
            </a:r>
            <a:r>
              <a:rPr lang="pt-BR" sz="2800" b="1" dirty="0"/>
              <a:t>divisão e conquista (divide </a:t>
            </a:r>
            <a:r>
              <a:rPr lang="pt-BR" sz="2800" b="1" dirty="0" err="1"/>
              <a:t>and</a:t>
            </a:r>
            <a:r>
              <a:rPr lang="pt-BR" sz="2800" b="1" dirty="0"/>
              <a:t> </a:t>
            </a:r>
            <a:r>
              <a:rPr lang="pt-BR" sz="2800" b="1" dirty="0" err="1"/>
              <a:t>conquer</a:t>
            </a:r>
            <a:r>
              <a:rPr lang="pt-BR" sz="2800" b="1" dirty="0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Bubble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000" b="1" dirty="0"/>
              <a:t>Pseudocódigo:</a:t>
            </a:r>
          </a:p>
          <a:p>
            <a:pPr marL="0" indent="0">
              <a:buNone/>
            </a:pPr>
            <a:r>
              <a:rPr lang="pt-BR" sz="2000" dirty="0"/>
              <a:t>procedimento </a:t>
            </a:r>
            <a:r>
              <a:rPr lang="pt-BR" sz="2000" dirty="0" err="1"/>
              <a:t>bubble_sort</a:t>
            </a:r>
            <a:r>
              <a:rPr lang="pt-BR" sz="2000" dirty="0"/>
              <a:t>(vetor)</a:t>
            </a:r>
          </a:p>
          <a:p>
            <a:pPr marL="0" indent="0">
              <a:buNone/>
            </a:pPr>
            <a:r>
              <a:rPr lang="pt-BR" sz="2000" dirty="0"/>
              <a:t>  	para i de 1 até tamanho(vetor) - 1 faça</a:t>
            </a:r>
          </a:p>
          <a:p>
            <a:pPr marL="0" indent="0">
              <a:buNone/>
            </a:pPr>
            <a:r>
              <a:rPr lang="pt-BR" sz="2000" dirty="0"/>
              <a:t>     		para j de 1 até tamanho(vetor) - i faça</a:t>
            </a:r>
          </a:p>
          <a:p>
            <a:pPr marL="0" indent="0">
              <a:buNone/>
            </a:pPr>
            <a:r>
              <a:rPr lang="pt-BR" sz="2000" dirty="0"/>
              <a:t>        		se vetor[j] &gt; vetor[j + 1]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      			troque(vetor[j], vetor[j + 1])</a:t>
            </a:r>
          </a:p>
          <a:p>
            <a:pPr marL="0" indent="0">
              <a:buNone/>
            </a:pPr>
            <a:r>
              <a:rPr lang="pt-BR" sz="2000" dirty="0"/>
              <a:t>        		</a:t>
            </a:r>
            <a:r>
              <a:rPr lang="pt-BR" sz="2000" dirty="0" err="1"/>
              <a:t>fimse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		</a:t>
            </a:r>
            <a:r>
              <a:rPr lang="pt-BR" sz="2000" dirty="0" err="1"/>
              <a:t>fimpara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fimpara</a:t>
            </a:r>
            <a:endParaRPr lang="pt-BR" sz="2000" dirty="0"/>
          </a:p>
          <a:p>
            <a:pPr marL="0" indent="0">
              <a:buNone/>
            </a:pPr>
            <a:r>
              <a:rPr lang="pt-BR" sz="2000" dirty="0" err="1"/>
              <a:t>Fimprocedimento</a:t>
            </a:r>
            <a:endParaRPr lang="pt-BR" sz="2000" dirty="0"/>
          </a:p>
          <a:p>
            <a:r>
              <a:rPr lang="pt-BR" sz="2000" b="1" dirty="0"/>
              <a:t>Fácil de implementar</a:t>
            </a:r>
            <a:r>
              <a:rPr lang="pt-BR" sz="2000" dirty="0"/>
              <a:t>, mas </a:t>
            </a:r>
            <a:r>
              <a:rPr lang="pt-BR" sz="2000" b="1" dirty="0"/>
              <a:t>ineficiente</a:t>
            </a:r>
            <a:r>
              <a:rPr lang="pt-BR" sz="2000" dirty="0"/>
              <a:t> para grandes volumes (O(n²)).</a:t>
            </a:r>
            <a:endParaRPr lang="pt-BR" sz="2000" b="1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3109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1800" b="1" dirty="0"/>
              <a:t>Pseudocódigo:</a:t>
            </a:r>
          </a:p>
          <a:p>
            <a:pPr marL="0" indent="0">
              <a:buNone/>
            </a:pPr>
            <a:r>
              <a:rPr lang="pt-BR" sz="1800" dirty="0"/>
              <a:t>procedimento </a:t>
            </a:r>
            <a:r>
              <a:rPr lang="pt-BR" sz="1800" dirty="0" err="1"/>
              <a:t>selection_sort</a:t>
            </a:r>
            <a:r>
              <a:rPr lang="pt-BR" sz="1800" dirty="0"/>
              <a:t>(vetor)</a:t>
            </a:r>
          </a:p>
          <a:p>
            <a:pPr marL="0" indent="0">
              <a:buNone/>
            </a:pPr>
            <a:r>
              <a:rPr lang="pt-BR" sz="1800" dirty="0"/>
              <a:t>  	para i de 1 até tamanho(vetor) - 1 faça</a:t>
            </a:r>
          </a:p>
          <a:p>
            <a:pPr marL="0" indent="0">
              <a:buNone/>
            </a:pPr>
            <a:r>
              <a:rPr lang="pt-BR" sz="1800" dirty="0"/>
              <a:t>     		min ← i</a:t>
            </a:r>
          </a:p>
          <a:p>
            <a:pPr marL="0" indent="0">
              <a:buNone/>
            </a:pPr>
            <a:r>
              <a:rPr lang="pt-BR" sz="1800" dirty="0"/>
              <a:t>     		para j de i + 1 até tamanho(vetor) faça</a:t>
            </a:r>
          </a:p>
          <a:p>
            <a:pPr marL="0" indent="0">
              <a:buNone/>
            </a:pPr>
            <a:r>
              <a:rPr lang="pt-BR" sz="1800" dirty="0"/>
              <a:t>        		se vetor[j] &lt; vetor[min] </a:t>
            </a:r>
            <a:r>
              <a:rPr lang="pt-BR" sz="1800" dirty="0" err="1"/>
              <a:t>entao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        			min ← j</a:t>
            </a:r>
          </a:p>
          <a:p>
            <a:pPr marL="0" indent="0">
              <a:buNone/>
            </a:pPr>
            <a:r>
              <a:rPr lang="pt-BR" sz="1800" dirty="0"/>
              <a:t>        		</a:t>
            </a:r>
            <a:r>
              <a:rPr lang="pt-BR" sz="1800" dirty="0" err="1"/>
              <a:t>fimse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  		</a:t>
            </a:r>
            <a:r>
              <a:rPr lang="pt-BR" sz="1800" dirty="0" err="1"/>
              <a:t>fimpara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  		troque(vetor[i], vetor[min])</a:t>
            </a:r>
          </a:p>
          <a:p>
            <a:pPr marL="0" indent="0">
              <a:buNone/>
            </a:pPr>
            <a:r>
              <a:rPr lang="pt-BR" sz="1800" dirty="0"/>
              <a:t>  	</a:t>
            </a:r>
            <a:r>
              <a:rPr lang="pt-BR" sz="1800" dirty="0" err="1"/>
              <a:t>fimpara</a:t>
            </a: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fimprocedimento</a:t>
            </a:r>
            <a:endParaRPr lang="pt-BR" sz="1800" dirty="0"/>
          </a:p>
          <a:p>
            <a:r>
              <a:rPr lang="pt-BR" sz="1800" b="1" dirty="0"/>
              <a:t>Vantagem:</a:t>
            </a:r>
            <a:r>
              <a:rPr lang="pt-BR" sz="1800" dirty="0"/>
              <a:t> faz menos trocas que o </a:t>
            </a:r>
            <a:r>
              <a:rPr lang="pt-BR" sz="1800" dirty="0" err="1"/>
              <a:t>Bubble</a:t>
            </a:r>
            <a:r>
              <a:rPr lang="pt-BR" sz="1800" dirty="0"/>
              <a:t> </a:t>
            </a:r>
            <a:r>
              <a:rPr lang="pt-BR" sz="1800" dirty="0" err="1"/>
              <a:t>Sort</a:t>
            </a:r>
            <a:r>
              <a:rPr lang="pt-BR" sz="1800" dirty="0"/>
              <a:t>.</a:t>
            </a:r>
          </a:p>
          <a:p>
            <a:r>
              <a:rPr lang="pt-BR" sz="1800" b="1" dirty="0"/>
              <a:t>Desvantagem:</a:t>
            </a:r>
            <a:r>
              <a:rPr lang="pt-BR" sz="1800" dirty="0"/>
              <a:t> ainda é O(n²).</a:t>
            </a:r>
          </a:p>
        </p:txBody>
      </p:sp>
    </p:spTree>
    <p:extLst>
      <p:ext uri="{BB962C8B-B14F-4D97-AF65-F5344CB8AC3E}">
        <p14:creationId xmlns:p14="http://schemas.microsoft.com/office/powerpoint/2010/main" val="99712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Insertion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1800" b="1" dirty="0"/>
              <a:t>Pseudocódigo:</a:t>
            </a:r>
          </a:p>
          <a:p>
            <a:pPr marL="0" indent="0">
              <a:buNone/>
            </a:pPr>
            <a:r>
              <a:rPr lang="pt-BR" sz="1800" dirty="0"/>
              <a:t>procedimento </a:t>
            </a:r>
            <a:r>
              <a:rPr lang="pt-BR" sz="1800" dirty="0" err="1"/>
              <a:t>insertion_sort</a:t>
            </a:r>
            <a:r>
              <a:rPr lang="pt-BR" sz="1800" dirty="0"/>
              <a:t>(vetor)</a:t>
            </a:r>
          </a:p>
          <a:p>
            <a:pPr marL="0" indent="0">
              <a:buNone/>
            </a:pPr>
            <a:r>
              <a:rPr lang="pt-BR" sz="1800" dirty="0"/>
              <a:t>  	para i de 2 até tamanho(vetor) faça</a:t>
            </a:r>
          </a:p>
          <a:p>
            <a:pPr marL="0" indent="0">
              <a:buNone/>
            </a:pPr>
            <a:r>
              <a:rPr lang="pt-BR" sz="1800" dirty="0"/>
              <a:t>     		chave ← vetor[i]</a:t>
            </a:r>
          </a:p>
          <a:p>
            <a:pPr marL="0" indent="0">
              <a:buNone/>
            </a:pPr>
            <a:r>
              <a:rPr lang="pt-BR" sz="1800" dirty="0"/>
              <a:t>     		j ← i - 1</a:t>
            </a:r>
          </a:p>
          <a:p>
            <a:pPr marL="0" indent="0">
              <a:buNone/>
            </a:pPr>
            <a:r>
              <a:rPr lang="pt-BR" sz="1800" dirty="0"/>
              <a:t>     		enquanto j &gt; 0 e vetor[j] &gt; chave faça</a:t>
            </a:r>
          </a:p>
          <a:p>
            <a:pPr marL="0" indent="0">
              <a:buNone/>
            </a:pPr>
            <a:r>
              <a:rPr lang="pt-BR" sz="1800" dirty="0"/>
              <a:t>        			vetor[j + 1] ← vetor[j]</a:t>
            </a:r>
          </a:p>
          <a:p>
            <a:pPr marL="0" indent="0">
              <a:buNone/>
            </a:pPr>
            <a:r>
              <a:rPr lang="pt-BR" sz="1800" dirty="0"/>
              <a:t>        			j ← j - 1</a:t>
            </a:r>
          </a:p>
          <a:p>
            <a:pPr marL="0" indent="0">
              <a:buNone/>
            </a:pPr>
            <a:r>
              <a:rPr lang="pt-BR" sz="1800" dirty="0"/>
              <a:t>     		</a:t>
            </a:r>
            <a:r>
              <a:rPr lang="pt-BR" sz="1800" dirty="0" err="1"/>
              <a:t>fimenquanto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  		vetor[j + 1] ← chave</a:t>
            </a:r>
          </a:p>
          <a:p>
            <a:pPr marL="0" indent="0">
              <a:buNone/>
            </a:pPr>
            <a:r>
              <a:rPr lang="pt-BR" sz="1800" dirty="0"/>
              <a:t>  	</a:t>
            </a:r>
            <a:r>
              <a:rPr lang="pt-BR" sz="1800" dirty="0" err="1"/>
              <a:t>fimpara</a:t>
            </a: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fimprocedimento</a:t>
            </a:r>
            <a:endParaRPr lang="pt-BR" sz="1800" dirty="0"/>
          </a:p>
          <a:p>
            <a:r>
              <a:rPr lang="pt-BR" sz="1800" b="1" dirty="0"/>
              <a:t>Bom para listas pequenas</a:t>
            </a:r>
            <a:r>
              <a:rPr lang="pt-BR" sz="1800" dirty="0"/>
              <a:t> ou quase ordenadas.</a:t>
            </a:r>
          </a:p>
        </p:txBody>
      </p:sp>
    </p:spTree>
    <p:extLst>
      <p:ext uri="{BB962C8B-B14F-4D97-AF65-F5344CB8AC3E}">
        <p14:creationId xmlns:p14="http://schemas.microsoft.com/office/powerpoint/2010/main" val="425550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(Divisão e Conquista)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b="1" dirty="0"/>
              <a:t>Ideia:</a:t>
            </a:r>
            <a:endParaRPr lang="pt-BR" sz="2400" dirty="0"/>
          </a:p>
          <a:p>
            <a:pPr lvl="1"/>
            <a:r>
              <a:rPr lang="pt-BR" sz="2000" dirty="0"/>
              <a:t>Divide o vetor em metades até ter partes pequenas.</a:t>
            </a:r>
          </a:p>
          <a:p>
            <a:pPr lvl="1"/>
            <a:r>
              <a:rPr lang="pt-BR" sz="2000" dirty="0"/>
              <a:t>Ordena e junta novamente (</a:t>
            </a:r>
            <a:r>
              <a:rPr lang="pt-BR" sz="2000" i="1" dirty="0"/>
              <a:t>merge</a:t>
            </a:r>
            <a:r>
              <a:rPr lang="pt-BR" sz="2000" dirty="0"/>
              <a:t>).</a:t>
            </a:r>
          </a:p>
          <a:p>
            <a:r>
              <a:rPr lang="pt-BR" sz="2400" dirty="0"/>
              <a:t>Complexidade: </a:t>
            </a:r>
            <a:r>
              <a:rPr lang="pt-BR" sz="2400" b="1" dirty="0"/>
              <a:t>O(n log n)</a:t>
            </a:r>
          </a:p>
          <a:p>
            <a:pPr marL="0" indent="0">
              <a:buNone/>
            </a:pPr>
            <a:r>
              <a:rPr lang="pt-BR" sz="2400" dirty="0"/>
              <a:t>Muito eficiente para grandes volumes.</a:t>
            </a:r>
          </a:p>
        </p:txBody>
      </p:sp>
    </p:spTree>
    <p:extLst>
      <p:ext uri="{BB962C8B-B14F-4D97-AF65-F5344CB8AC3E}">
        <p14:creationId xmlns:p14="http://schemas.microsoft.com/office/powerpoint/2010/main" val="3096899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b="1" dirty="0"/>
              <a:t>Ideia:</a:t>
            </a:r>
            <a:endParaRPr lang="pt-BR" dirty="0"/>
          </a:p>
          <a:p>
            <a:pPr lvl="1"/>
            <a:r>
              <a:rPr lang="pt-BR" sz="3200" dirty="0"/>
              <a:t>Escolhe um </a:t>
            </a:r>
            <a:r>
              <a:rPr lang="pt-BR" sz="3200" b="1" dirty="0"/>
              <a:t>pivô (</a:t>
            </a:r>
            <a:r>
              <a:rPr lang="pt-BR" sz="3200" b="1" dirty="0" err="1"/>
              <a:t>pivot</a:t>
            </a:r>
            <a:r>
              <a:rPr lang="pt-BR" sz="3200" b="1" dirty="0"/>
              <a:t>)</a:t>
            </a:r>
            <a:r>
              <a:rPr lang="pt-BR" sz="3200" dirty="0"/>
              <a:t>.</a:t>
            </a:r>
          </a:p>
          <a:p>
            <a:pPr lvl="1"/>
            <a:r>
              <a:rPr lang="pt-BR" sz="3200" dirty="0"/>
              <a:t>Separa valores menores e maiores que o pivô.</a:t>
            </a:r>
          </a:p>
          <a:p>
            <a:pPr lvl="1"/>
            <a:r>
              <a:rPr lang="pt-BR" sz="3200" dirty="0"/>
              <a:t>Chama recursivamente para as duas partes.</a:t>
            </a:r>
          </a:p>
          <a:p>
            <a:r>
              <a:rPr lang="pt-BR" b="1" dirty="0"/>
              <a:t>Complexidade média:</a:t>
            </a:r>
            <a:r>
              <a:rPr lang="pt-BR" dirty="0"/>
              <a:t> O(n log n)</a:t>
            </a:r>
          </a:p>
          <a:p>
            <a:r>
              <a:rPr lang="pt-BR" b="1" dirty="0"/>
              <a:t>Pior caso:</a:t>
            </a:r>
            <a:r>
              <a:rPr lang="pt-BR" dirty="0"/>
              <a:t> O(n²) (quando os pivôs são mal escolhidos)</a:t>
            </a:r>
          </a:p>
        </p:txBody>
      </p:sp>
    </p:spTree>
    <p:extLst>
      <p:ext uri="{BB962C8B-B14F-4D97-AF65-F5344CB8AC3E}">
        <p14:creationId xmlns:p14="http://schemas.microsoft.com/office/powerpoint/2010/main" val="3003681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Comparativo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94F9FFB-90B3-4C16-8406-E2D0A41E4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962035"/>
              </p:ext>
            </p:extLst>
          </p:nvPr>
        </p:nvGraphicFramePr>
        <p:xfrm>
          <a:off x="457200" y="1417638"/>
          <a:ext cx="8229600" cy="516572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64740834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436141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6771165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013156"/>
                    </a:ext>
                  </a:extLst>
                </a:gridCol>
              </a:tblGrid>
              <a:tr h="860954">
                <a:tc>
                  <a:txBody>
                    <a:bodyPr/>
                    <a:lstStyle/>
                    <a:p>
                      <a:r>
                        <a:rPr lang="pt-BR" b="1"/>
                        <a:t>Algoritmo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Complexidade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Estável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Estrutura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30170"/>
                  </a:ext>
                </a:extLst>
              </a:tr>
              <a:tr h="860954">
                <a:tc>
                  <a:txBody>
                    <a:bodyPr/>
                    <a:lstStyle/>
                    <a:p>
                      <a:r>
                        <a:rPr lang="pt-BR"/>
                        <a:t>Bubble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47635"/>
                  </a:ext>
                </a:extLst>
              </a:tr>
              <a:tr h="860954">
                <a:tc>
                  <a:txBody>
                    <a:bodyPr/>
                    <a:lstStyle/>
                    <a:p>
                      <a:r>
                        <a:rPr lang="pt-BR"/>
                        <a:t>Selection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112305"/>
                  </a:ext>
                </a:extLst>
              </a:tr>
              <a:tr h="860954">
                <a:tc>
                  <a:txBody>
                    <a:bodyPr/>
                    <a:lstStyle/>
                    <a:p>
                      <a:r>
                        <a:rPr lang="pt-BR" dirty="0" err="1"/>
                        <a:t>Insertion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Sort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638"/>
                  </a:ext>
                </a:extLst>
              </a:tr>
              <a:tr h="860954">
                <a:tc>
                  <a:txBody>
                    <a:bodyPr/>
                    <a:lstStyle/>
                    <a:p>
                      <a:r>
                        <a:rPr lang="pt-BR"/>
                        <a:t>Merge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Recursivo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78891"/>
                  </a:ext>
                </a:extLst>
              </a:tr>
              <a:tr h="860954">
                <a:tc>
                  <a:txBody>
                    <a:bodyPr/>
                    <a:lstStyle/>
                    <a:p>
                      <a:r>
                        <a:rPr lang="pt-BR"/>
                        <a:t>Quick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Recursivo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0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Aplicações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Busca binária</a:t>
            </a:r>
            <a:r>
              <a:rPr lang="pt-BR" dirty="0"/>
              <a:t> em listas de nomes, </a:t>
            </a:r>
            <a:r>
              <a:rPr lang="pt-BR" dirty="0" err="1"/>
              <a:t>IDs</a:t>
            </a:r>
            <a:r>
              <a:rPr lang="pt-BR" dirty="0"/>
              <a:t> ou produtos.</a:t>
            </a:r>
          </a:p>
          <a:p>
            <a:r>
              <a:rPr lang="pt-BR" b="1" dirty="0"/>
              <a:t>Ordenação</a:t>
            </a:r>
            <a:r>
              <a:rPr lang="pt-BR" dirty="0"/>
              <a:t> em cadastros e relatórios.</a:t>
            </a:r>
          </a:p>
          <a:p>
            <a:r>
              <a:rPr lang="pt-BR" dirty="0"/>
              <a:t>Base para algoritmos de </a:t>
            </a:r>
            <a:r>
              <a:rPr lang="pt-BR" b="1" dirty="0"/>
              <a:t>pesquisa de dados e bancos de dados</a:t>
            </a:r>
            <a:r>
              <a:rPr lang="pt-BR" dirty="0"/>
              <a:t>.</a:t>
            </a:r>
          </a:p>
          <a:p>
            <a:r>
              <a:rPr lang="pt-BR" dirty="0"/>
              <a:t>Usados em </a:t>
            </a:r>
            <a:r>
              <a:rPr lang="pt-BR" b="1" dirty="0"/>
              <a:t>jogos</a:t>
            </a:r>
            <a:r>
              <a:rPr lang="pt-BR" dirty="0"/>
              <a:t>, </a:t>
            </a:r>
            <a:r>
              <a:rPr lang="pt-BR" b="1" dirty="0"/>
              <a:t>IA</a:t>
            </a:r>
            <a:r>
              <a:rPr lang="pt-BR" dirty="0"/>
              <a:t> e </a:t>
            </a:r>
            <a:r>
              <a:rPr lang="pt-BR" b="1" dirty="0"/>
              <a:t>ciência de dados</a:t>
            </a:r>
            <a:r>
              <a:rPr lang="pt-BR" dirty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Ordene os dados antes de aplicar </a:t>
            </a:r>
            <a:r>
              <a:rPr lang="pt-BR" b="1" dirty="0"/>
              <a:t>busca binária</a:t>
            </a:r>
            <a:r>
              <a:rPr lang="pt-BR" dirty="0"/>
              <a:t>.</a:t>
            </a:r>
          </a:p>
          <a:p>
            <a:r>
              <a:rPr lang="pt-BR" dirty="0"/>
              <a:t>Escolha o algoritmo de ordenação conforme o </a:t>
            </a:r>
            <a:r>
              <a:rPr lang="pt-BR" b="1" dirty="0"/>
              <a:t>tamanho dos dados</a:t>
            </a:r>
            <a:r>
              <a:rPr lang="pt-BR" dirty="0"/>
              <a:t>.</a:t>
            </a:r>
          </a:p>
          <a:p>
            <a:r>
              <a:rPr lang="pt-BR" dirty="0"/>
              <a:t>Prefira </a:t>
            </a:r>
            <a:r>
              <a:rPr lang="pt-BR" b="1" dirty="0"/>
              <a:t>Merge</a:t>
            </a:r>
            <a:r>
              <a:rPr lang="pt-BR" dirty="0"/>
              <a:t> ou </a:t>
            </a:r>
            <a:r>
              <a:rPr lang="pt-BR" b="1" dirty="0" err="1"/>
              <a:t>Quick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para grandes volumes.</a:t>
            </a:r>
          </a:p>
          <a:p>
            <a:r>
              <a:rPr lang="pt-BR" dirty="0"/>
              <a:t>Teste e compare tempos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Busca e ordenação </a:t>
            </a:r>
            <a:r>
              <a:rPr lang="pt-BR" dirty="0"/>
              <a:t>são operações centrais em lógica e estruturas de dados.</a:t>
            </a:r>
          </a:p>
          <a:p>
            <a:r>
              <a:rPr lang="pt-BR" dirty="0"/>
              <a:t>Conhecer suas diferenças e aplicações melhora a </a:t>
            </a:r>
            <a:r>
              <a:rPr lang="pt-BR" b="1" dirty="0"/>
              <a:t>eficiência</a:t>
            </a:r>
            <a:r>
              <a:rPr lang="pt-BR" dirty="0"/>
              <a:t> dos algoritmos.</a:t>
            </a:r>
          </a:p>
          <a:p>
            <a:r>
              <a:rPr lang="pt-BR" dirty="0"/>
              <a:t>A escolha correta do método depende do </a:t>
            </a:r>
            <a:r>
              <a:rPr lang="pt-BR" b="1" dirty="0"/>
              <a:t>tamanho e organização </a:t>
            </a:r>
            <a:r>
              <a:rPr lang="pt-BR" dirty="0"/>
              <a:t>dos dados.</a:t>
            </a:r>
          </a:p>
          <a:p>
            <a:r>
              <a:rPr lang="pt-BR" b="1" dirty="0"/>
              <a:t>Resumo:</a:t>
            </a:r>
          </a:p>
          <a:p>
            <a:pPr marL="0" indent="0">
              <a:buNone/>
            </a:pPr>
            <a:r>
              <a:rPr lang="pt-BR" dirty="0"/>
              <a:t>“Buscar é encontrar; ordenar é preparar o caminho para encontrar mais rápido.”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660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543</Words>
  <Application>Microsoft Office PowerPoint</Application>
  <PresentationFormat>Apresentação na tela (4:3)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Etapa 9 — Busca e Ordenação (Searching and Sorting)</vt:lpstr>
      <vt:lpstr>Introdução</vt:lpstr>
      <vt:lpstr>Tipos de Busca</vt:lpstr>
      <vt:lpstr>Busca Sequencial (Linear Search)</vt:lpstr>
      <vt:lpstr>Busca Binária (Binary Search)</vt:lpstr>
      <vt:lpstr>Tipos de Ordenação</vt:lpstr>
      <vt:lpstr>Bubble Sort</vt:lpstr>
      <vt:lpstr>Selection Sort</vt:lpstr>
      <vt:lpstr>Insertion Sort</vt:lpstr>
      <vt:lpstr>Merge Sort (Divisão e Conquista)</vt:lpstr>
      <vt:lpstr>Quick Sort</vt:lpstr>
      <vt:lpstr>Comparativo</vt:lpstr>
      <vt:lpstr>Aplicações Práticas</vt:lpstr>
      <vt:lpstr>Boas Práticas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62</cp:revision>
  <dcterms:created xsi:type="dcterms:W3CDTF">2013-01-27T09:14:16Z</dcterms:created>
  <dcterms:modified xsi:type="dcterms:W3CDTF">2025-11-06T20:48:00Z</dcterms:modified>
  <cp:category/>
</cp:coreProperties>
</file>