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Etapa 1 - Introdução a Algoritmos e Pseudocódigo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Trilha: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Algoritmo (</a:t>
            </a:r>
            <a:r>
              <a:rPr lang="pt-BR" dirty="0" err="1"/>
              <a:t>Algorithm</a:t>
            </a:r>
            <a:r>
              <a:rPr lang="pt-BR" dirty="0"/>
              <a:t>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Um </a:t>
            </a:r>
            <a:r>
              <a:rPr lang="pt-BR" sz="2400" b="1" dirty="0"/>
              <a:t>algoritmo</a:t>
            </a:r>
            <a:r>
              <a:rPr lang="pt-BR" sz="2400" dirty="0"/>
              <a:t> é uma sequência finita de </a:t>
            </a:r>
            <a:r>
              <a:rPr lang="pt-BR" sz="2400" b="1" dirty="0"/>
              <a:t>passos lógicos </a:t>
            </a:r>
            <a:r>
              <a:rPr lang="pt-BR" sz="2400" dirty="0"/>
              <a:t>que resolvem um problema ou executam uma tarefa.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Está presente em </a:t>
            </a:r>
            <a:r>
              <a:rPr lang="pt-BR" sz="2400" b="1" dirty="0"/>
              <a:t>todas as áreas da computação</a:t>
            </a:r>
            <a:r>
              <a:rPr lang="pt-B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É </a:t>
            </a:r>
            <a:r>
              <a:rPr lang="pt-BR" sz="2400" b="1" dirty="0"/>
              <a:t>independente de linguagem de programação</a:t>
            </a:r>
            <a:r>
              <a:rPr lang="pt-BR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Base da </a:t>
            </a:r>
            <a:r>
              <a:rPr lang="pt-BR" sz="2400" b="1" dirty="0"/>
              <a:t>lógica de programação </a:t>
            </a:r>
            <a:r>
              <a:rPr lang="pt-BR" sz="2400" dirty="0"/>
              <a:t>e do </a:t>
            </a:r>
            <a:r>
              <a:rPr lang="pt-BR" sz="2400" b="1" dirty="0"/>
              <a:t>pensamento computacional (</a:t>
            </a:r>
            <a:r>
              <a:rPr lang="pt-BR" sz="2400" b="1" dirty="0" err="1"/>
              <a:t>computational</a:t>
            </a:r>
            <a:r>
              <a:rPr lang="pt-BR" sz="2400" b="1" dirty="0"/>
              <a:t> </a:t>
            </a:r>
            <a:r>
              <a:rPr lang="pt-BR" sz="2400" b="1" dirty="0" err="1"/>
              <a:t>thinking</a:t>
            </a:r>
            <a:r>
              <a:rPr lang="pt-BR" sz="2400" b="1" dirty="0"/>
              <a:t>)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r>
              <a:rPr lang="pt-BR" sz="2400" b="1" dirty="0"/>
              <a:t>Exemplo do mundo real</a:t>
            </a:r>
            <a:r>
              <a:rPr lang="pt-BR" sz="2400" dirty="0"/>
              <a:t>:</a:t>
            </a:r>
          </a:p>
          <a:p>
            <a:r>
              <a:rPr lang="pt-BR" sz="2000" dirty="0"/>
              <a:t>Fazer café: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BR" sz="2000" b="1" dirty="0"/>
              <a:t>Ferver água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BR" sz="2000" b="1" dirty="0"/>
              <a:t>Colocar o pó no filtro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BR" sz="2000" b="1" dirty="0"/>
              <a:t>Despejar água quente</a:t>
            </a:r>
          </a:p>
          <a:p>
            <a:pPr marL="857250" lvl="1" indent="-457200">
              <a:buFont typeface="+mj-lt"/>
              <a:buAutoNum type="arabicPeriod"/>
            </a:pPr>
            <a:r>
              <a:rPr lang="pt-BR" sz="2000" b="1" dirty="0"/>
              <a:t>Servir o café</a:t>
            </a:r>
          </a:p>
          <a:p>
            <a:pPr marL="0" indent="0">
              <a:buNone/>
            </a:pPr>
            <a:r>
              <a:rPr lang="pt-BR" sz="2400" dirty="0"/>
              <a:t>Isso é um algoritmo cotidiano!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de um Algoritmo</a:t>
            </a:r>
            <a:endParaRPr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4BCD7F-0936-42A3-A1D6-22CE1248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Finitude (</a:t>
            </a:r>
            <a:r>
              <a:rPr lang="pt-BR" b="1" dirty="0" err="1"/>
              <a:t>Finiteness</a:t>
            </a:r>
            <a:r>
              <a:rPr lang="pt-BR" b="1" dirty="0"/>
              <a:t>) </a:t>
            </a:r>
            <a:r>
              <a:rPr lang="pt-BR" dirty="0"/>
              <a:t>→ Deve terminar após um número limitado de passos.</a:t>
            </a:r>
          </a:p>
          <a:p>
            <a:r>
              <a:rPr lang="pt-BR" b="1" dirty="0"/>
              <a:t>Definição (</a:t>
            </a:r>
            <a:r>
              <a:rPr lang="pt-BR" b="1" dirty="0" err="1"/>
              <a:t>Definiteness</a:t>
            </a:r>
            <a:r>
              <a:rPr lang="pt-BR" b="1" dirty="0"/>
              <a:t>) </a:t>
            </a:r>
            <a:r>
              <a:rPr lang="pt-BR" dirty="0"/>
              <a:t>→ Cada instrução deve ser clara e não ambígua.</a:t>
            </a:r>
          </a:p>
          <a:p>
            <a:r>
              <a:rPr lang="pt-BR" b="1" dirty="0"/>
              <a:t>Entrada (Input) </a:t>
            </a:r>
            <a:r>
              <a:rPr lang="pt-BR" dirty="0"/>
              <a:t>→ Dados que o algoritmo recebe.</a:t>
            </a:r>
          </a:p>
          <a:p>
            <a:r>
              <a:rPr lang="pt-BR" b="1" dirty="0"/>
              <a:t>Saída (Output) </a:t>
            </a:r>
            <a:r>
              <a:rPr lang="pt-BR" dirty="0"/>
              <a:t>→ Resultados gerados.</a:t>
            </a:r>
          </a:p>
          <a:p>
            <a:r>
              <a:rPr lang="pt-BR" b="1" dirty="0"/>
              <a:t>Efetividade (</a:t>
            </a:r>
            <a:r>
              <a:rPr lang="pt-BR" b="1" dirty="0" err="1"/>
              <a:t>Effectiveness</a:t>
            </a:r>
            <a:r>
              <a:rPr lang="pt-BR" b="1" dirty="0"/>
              <a:t>) </a:t>
            </a:r>
            <a:r>
              <a:rPr lang="pt-BR" dirty="0"/>
              <a:t>→ Cada passo deve ser possível de executar.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de Algoritmos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Existem várias formas de representar um algoritmo:</a:t>
            </a:r>
          </a:p>
          <a:p>
            <a:r>
              <a:rPr lang="pt-BR" b="1" dirty="0"/>
              <a:t>Linguagem natural </a:t>
            </a:r>
            <a:r>
              <a:rPr lang="pt-BR" dirty="0"/>
              <a:t>(texto comum)</a:t>
            </a:r>
          </a:p>
          <a:p>
            <a:r>
              <a:rPr lang="pt-BR" b="1" dirty="0"/>
              <a:t>Fluxograma (Flowchart)</a:t>
            </a:r>
          </a:p>
          <a:p>
            <a:r>
              <a:rPr lang="pt-BR" b="1" dirty="0"/>
              <a:t>Pseudocódigo (</a:t>
            </a:r>
            <a:r>
              <a:rPr lang="pt-BR" b="1" dirty="0" err="1"/>
              <a:t>Pseudocode</a:t>
            </a:r>
            <a:r>
              <a:rPr lang="pt-BR" b="1" dirty="0"/>
              <a:t>) </a:t>
            </a:r>
            <a:r>
              <a:rPr lang="pt-BR" dirty="0"/>
              <a:t>— a mais usada no ensino</a:t>
            </a:r>
          </a:p>
          <a:p>
            <a:r>
              <a:rPr lang="pt-BR" b="1" dirty="0"/>
              <a:t>Código fonte (</a:t>
            </a:r>
            <a:r>
              <a:rPr lang="pt-BR" b="1" dirty="0" err="1"/>
              <a:t>Source</a:t>
            </a:r>
            <a:r>
              <a:rPr lang="pt-BR" b="1" dirty="0"/>
              <a:t> </a:t>
            </a:r>
            <a:r>
              <a:rPr lang="pt-BR" b="1" dirty="0" err="1"/>
              <a:t>Code</a:t>
            </a:r>
            <a:r>
              <a:rPr lang="pt-BR" b="1" dirty="0"/>
              <a:t>) </a:t>
            </a:r>
            <a:r>
              <a:rPr lang="pt-BR" dirty="0"/>
              <a:t>em uma linguagem de programação real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O que é Pseudocódigo (</a:t>
            </a:r>
            <a:r>
              <a:rPr lang="pt-BR" dirty="0" err="1"/>
              <a:t>Pseudocode</a:t>
            </a:r>
            <a:r>
              <a:rPr lang="pt-BR" dirty="0"/>
              <a:t>)?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É uma </a:t>
            </a:r>
            <a:r>
              <a:rPr lang="pt-BR" b="1" dirty="0"/>
              <a:t>forma estruturada </a:t>
            </a:r>
            <a:r>
              <a:rPr lang="pt-BR" dirty="0"/>
              <a:t>e </a:t>
            </a:r>
            <a:r>
              <a:rPr lang="pt-BR" b="1" dirty="0"/>
              <a:t>simples</a:t>
            </a:r>
            <a:r>
              <a:rPr lang="pt-BR" dirty="0"/>
              <a:t> de descrever algoritmos.</a:t>
            </a:r>
          </a:p>
          <a:p>
            <a:r>
              <a:rPr lang="pt-BR" dirty="0"/>
              <a:t>Não segue a sintaxe de uma linguagem real, mas </a:t>
            </a:r>
            <a:r>
              <a:rPr lang="pt-BR" b="1" dirty="0"/>
              <a:t>parece código</a:t>
            </a:r>
            <a:r>
              <a:rPr lang="pt-BR" dirty="0"/>
              <a:t>.</a:t>
            </a:r>
          </a:p>
          <a:p>
            <a:r>
              <a:rPr lang="pt-BR" dirty="0"/>
              <a:t>Foca na </a:t>
            </a:r>
            <a:r>
              <a:rPr lang="pt-BR" b="1" dirty="0"/>
              <a:t>lógica</a:t>
            </a:r>
            <a:r>
              <a:rPr lang="pt-BR" dirty="0"/>
              <a:t>, não na execução.</a:t>
            </a:r>
          </a:p>
          <a:p>
            <a:r>
              <a:rPr lang="pt-BR" dirty="0"/>
              <a:t>Usa palavras-chave intuitivas como:</a:t>
            </a:r>
          </a:p>
          <a:p>
            <a:pPr lvl="1"/>
            <a:r>
              <a:rPr lang="pt-BR" dirty="0"/>
              <a:t>inicio, fim, se, </a:t>
            </a:r>
            <a:r>
              <a:rPr lang="pt-BR" dirty="0" err="1"/>
              <a:t>entao</a:t>
            </a:r>
            <a:r>
              <a:rPr lang="pt-BR" dirty="0"/>
              <a:t>, </a:t>
            </a:r>
            <a:r>
              <a:rPr lang="pt-BR" dirty="0" err="1"/>
              <a:t>senao</a:t>
            </a:r>
            <a:r>
              <a:rPr lang="pt-BR" dirty="0"/>
              <a:t>, enquanto, para, leia, escreva.</a:t>
            </a:r>
          </a:p>
          <a:p>
            <a:pPr marL="457200" lvl="1" indent="0">
              <a:buNone/>
            </a:pPr>
            <a:r>
              <a:rPr lang="pt-BR" b="1" dirty="0"/>
              <a:t>Exemplo:</a:t>
            </a:r>
          </a:p>
          <a:p>
            <a:pPr marL="457200" lvl="1" indent="0">
              <a:buNone/>
            </a:pPr>
            <a:r>
              <a:rPr lang="pt-BR" dirty="0"/>
              <a:t>inicio</a:t>
            </a:r>
          </a:p>
          <a:p>
            <a:pPr marL="457200" lvl="1" indent="0">
              <a:buNone/>
            </a:pPr>
            <a:r>
              <a:rPr lang="pt-BR" dirty="0"/>
              <a:t>  leia A, B</a:t>
            </a:r>
          </a:p>
          <a:p>
            <a:pPr marL="457200" lvl="1" indent="0">
              <a:buNone/>
            </a:pPr>
            <a:r>
              <a:rPr lang="pt-BR" dirty="0"/>
              <a:t>  soma ← A + B</a:t>
            </a:r>
          </a:p>
          <a:p>
            <a:pPr marL="457200" lvl="1" indent="0">
              <a:buNone/>
            </a:pPr>
            <a:r>
              <a:rPr lang="pt-BR" dirty="0"/>
              <a:t>  escreva "Resultado:", soma</a:t>
            </a:r>
          </a:p>
          <a:p>
            <a:pPr marL="457200" lvl="1" indent="0">
              <a:buNone/>
            </a:pPr>
            <a:r>
              <a:rPr lang="pt-BR" dirty="0"/>
              <a:t>fim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do Pseudocódigo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Fácil de entender mesmo sem saber programar.</a:t>
            </a:r>
          </a:p>
          <a:p>
            <a:r>
              <a:rPr lang="pt-BR" dirty="0"/>
              <a:t>Ideal para </a:t>
            </a:r>
            <a:r>
              <a:rPr lang="pt-BR" b="1" dirty="0"/>
              <a:t>planejar algoritmos </a:t>
            </a:r>
            <a:r>
              <a:rPr lang="pt-BR" dirty="0"/>
              <a:t>antes de codificar.</a:t>
            </a:r>
          </a:p>
          <a:p>
            <a:r>
              <a:rPr lang="pt-BR" b="1" dirty="0"/>
              <a:t>Facilita o aprendizado </a:t>
            </a:r>
            <a:r>
              <a:rPr lang="pt-BR" dirty="0"/>
              <a:t>de estruturas de controle e lógica.</a:t>
            </a:r>
          </a:p>
          <a:p>
            <a:r>
              <a:rPr lang="pt-BR" dirty="0"/>
              <a:t>Serve como </a:t>
            </a:r>
            <a:r>
              <a:rPr lang="pt-BR" b="1" dirty="0"/>
              <a:t>ponte</a:t>
            </a:r>
            <a:r>
              <a:rPr lang="pt-BR" dirty="0"/>
              <a:t> entre a ideia e a implementação.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2166D-F70F-4C2F-BCFC-7AA60CC1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Básica de um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18C5DB-9B3D-417C-9276-14443FDD9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Um pseudocódigo genérico segue esta estrutura:</a:t>
            </a:r>
          </a:p>
          <a:p>
            <a:pPr marL="0" indent="0">
              <a:buNone/>
            </a:pPr>
            <a:r>
              <a:rPr lang="pt-BR" dirty="0"/>
              <a:t>algoritmo "</a:t>
            </a:r>
            <a:r>
              <a:rPr lang="pt-BR" dirty="0" err="1"/>
              <a:t>nome_do_algoritmo</a:t>
            </a:r>
            <a:r>
              <a:rPr lang="pt-BR" dirty="0"/>
              <a:t>"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	// Declaração de variáveis</a:t>
            </a:r>
          </a:p>
          <a:p>
            <a:pPr marL="0" indent="0">
              <a:buNone/>
            </a:pPr>
            <a:r>
              <a:rPr lang="pt-BR" dirty="0"/>
              <a:t>  	// Instruções e comandos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r>
              <a:rPr lang="pt-BR" b="1" dirty="0"/>
              <a:t>Exemplo:</a:t>
            </a:r>
          </a:p>
          <a:p>
            <a:pPr marL="0" indent="0">
              <a:buNone/>
            </a:pPr>
            <a:r>
              <a:rPr lang="pt-BR" dirty="0"/>
              <a:t>algoritmo "</a:t>
            </a:r>
            <a:r>
              <a:rPr lang="pt-BR" dirty="0" err="1"/>
              <a:t>calcular_media</a:t>
            </a:r>
            <a:r>
              <a:rPr lang="pt-BR" dirty="0"/>
              <a:t>"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leia nota1, nota2</a:t>
            </a:r>
          </a:p>
          <a:p>
            <a:pPr marL="0" indent="0">
              <a:buNone/>
            </a:pPr>
            <a:r>
              <a:rPr lang="pt-BR" dirty="0"/>
              <a:t>  media ← (nota1 + nota2) / 2</a:t>
            </a:r>
          </a:p>
          <a:p>
            <a:pPr marL="0" indent="0">
              <a:buNone/>
            </a:pPr>
            <a:r>
              <a:rPr lang="pt-BR" dirty="0"/>
              <a:t>  escreva "Média =", media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pPr marL="0" indent="0">
              <a:buNone/>
            </a:pPr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354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FFB8E-A925-4174-8739-C08A4B9D6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Etapas para Construção de um 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49645-D6E9-49B9-ADDA-9E883F83F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b="1" dirty="0"/>
              <a:t>Compreender o problema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Definir entradas e saídas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Dividir em passos lógicos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Testar mentalmente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Representar em pseudocódigo ou fluxograma</a:t>
            </a:r>
          </a:p>
          <a:p>
            <a:pPr marL="514350" indent="-514350">
              <a:buFont typeface="+mj-lt"/>
              <a:buAutoNum type="arabicPeriod"/>
            </a:pPr>
            <a:r>
              <a:rPr lang="pt-BR" b="1" dirty="0"/>
              <a:t>Validar com exemplos reais</a:t>
            </a:r>
          </a:p>
        </p:txBody>
      </p:sp>
    </p:spTree>
    <p:extLst>
      <p:ext uri="{BB962C8B-B14F-4D97-AF65-F5344CB8AC3E}">
        <p14:creationId xmlns:p14="http://schemas.microsoft.com/office/powerpoint/2010/main" val="204867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70B27-1C68-4081-ACCD-3AFCF40FC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Boas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646785-0DB0-4C42-A1F2-D949FB209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Nomeie variáveis de forma </a:t>
            </a:r>
            <a:r>
              <a:rPr lang="pt-BR" b="1" dirty="0"/>
              <a:t>significativa</a:t>
            </a:r>
            <a:r>
              <a:rPr lang="pt-BR" dirty="0"/>
              <a:t>.</a:t>
            </a:r>
          </a:p>
          <a:p>
            <a:r>
              <a:rPr lang="pt-BR" dirty="0"/>
              <a:t>Use </a:t>
            </a:r>
            <a:r>
              <a:rPr lang="pt-BR" b="1" dirty="0" err="1"/>
              <a:t>indentação</a:t>
            </a:r>
            <a:r>
              <a:rPr lang="pt-BR" dirty="0"/>
              <a:t> para facilitar leitura.</a:t>
            </a:r>
          </a:p>
          <a:p>
            <a:r>
              <a:rPr lang="pt-BR" dirty="0"/>
              <a:t>Comente (//) trechos importantes.</a:t>
            </a:r>
          </a:p>
          <a:p>
            <a:r>
              <a:rPr lang="pt-BR" dirty="0"/>
              <a:t>Mantenha os passos </a:t>
            </a:r>
            <a:r>
              <a:rPr lang="pt-BR" b="1" dirty="0"/>
              <a:t>curtos e claros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b="1" dirty="0"/>
              <a:t>Exemplo com comentários:</a:t>
            </a:r>
          </a:p>
          <a:p>
            <a:pPr marL="0" indent="0">
              <a:buNone/>
            </a:pPr>
            <a:r>
              <a:rPr lang="pt-BR" dirty="0"/>
              <a:t>inicio</a:t>
            </a:r>
          </a:p>
          <a:p>
            <a:pPr marL="0" indent="0">
              <a:buNone/>
            </a:pPr>
            <a:r>
              <a:rPr lang="pt-BR" dirty="0"/>
              <a:t>  // Ler dois números e somar</a:t>
            </a:r>
          </a:p>
          <a:p>
            <a:pPr marL="0" indent="0">
              <a:buNone/>
            </a:pPr>
            <a:r>
              <a:rPr lang="pt-BR" dirty="0"/>
              <a:t>  leia x, y</a:t>
            </a:r>
          </a:p>
          <a:p>
            <a:pPr marL="0" indent="0">
              <a:buNone/>
            </a:pPr>
            <a:r>
              <a:rPr lang="pt-BR" dirty="0"/>
              <a:t>  z ← x + y</a:t>
            </a:r>
          </a:p>
          <a:p>
            <a:pPr marL="0" indent="0">
              <a:buNone/>
            </a:pPr>
            <a:r>
              <a:rPr lang="pt-BR" dirty="0"/>
              <a:t>  escreva "Soma =", z</a:t>
            </a:r>
          </a:p>
          <a:p>
            <a:pPr marL="0" indent="0">
              <a:buNone/>
            </a:pPr>
            <a:r>
              <a:rPr lang="pt-BR" dirty="0"/>
              <a:t>fim</a:t>
            </a:r>
          </a:p>
          <a:p>
            <a:pPr marL="0" indent="0">
              <a:buNone/>
            </a:pP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032646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7800-2A83-4D50-87BB-ECB1CA2B5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1290BB-A4C3-4CDA-AAC0-179303B1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Todo programa começa com um </a:t>
            </a:r>
            <a:r>
              <a:rPr lang="pt-BR" b="1" dirty="0"/>
              <a:t>algoritmo</a:t>
            </a:r>
            <a:r>
              <a:rPr lang="pt-BR" dirty="0"/>
              <a:t> bem estruturado.</a:t>
            </a:r>
          </a:p>
          <a:p>
            <a:r>
              <a:rPr lang="pt-BR" dirty="0"/>
              <a:t>O </a:t>
            </a:r>
            <a:r>
              <a:rPr lang="pt-BR" b="1" dirty="0"/>
              <a:t>pseudocódigo</a:t>
            </a:r>
            <a:r>
              <a:rPr lang="pt-BR" dirty="0"/>
              <a:t> ajuda a </a:t>
            </a:r>
            <a:r>
              <a:rPr lang="pt-BR" b="1" dirty="0"/>
              <a:t>pensar logicamente </a:t>
            </a:r>
            <a:r>
              <a:rPr lang="pt-BR" dirty="0"/>
              <a:t>antes de programar.</a:t>
            </a:r>
          </a:p>
          <a:p>
            <a:r>
              <a:rPr lang="pt-BR" dirty="0"/>
              <a:t>Dominar essa base é essencial para seguir na trilha de lógica de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401761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463</Words>
  <Application>Microsoft Office PowerPoint</Application>
  <PresentationFormat>Apresentação na tela (4:3)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Etapa 1 - Introdução a Algoritmos e Pseudocódigo</vt:lpstr>
      <vt:lpstr>O que é um Algoritmo (Algorithm)?</vt:lpstr>
      <vt:lpstr>Características de um Algoritmo</vt:lpstr>
      <vt:lpstr>Representação de Algoritmos</vt:lpstr>
      <vt:lpstr>O que é Pseudocódigo (Pseudocode)?</vt:lpstr>
      <vt:lpstr>Vantagens do Pseudocódigo</vt:lpstr>
      <vt:lpstr>Estrutura Básica de um Algoritmo</vt:lpstr>
      <vt:lpstr>Etapas para Construção de um Algoritmo</vt:lpstr>
      <vt:lpstr>Boas Práticas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Introdução a Algoritmos e Pseudocódigo</dc:title>
  <dc:subject/>
  <dc:creator/>
  <cp:keywords/>
  <dc:description>generated using python-pptx</dc:description>
  <cp:lastModifiedBy>Murilo Rocha</cp:lastModifiedBy>
  <cp:revision>7</cp:revision>
  <dcterms:created xsi:type="dcterms:W3CDTF">2013-01-27T09:14:16Z</dcterms:created>
  <dcterms:modified xsi:type="dcterms:W3CDTF">2025-11-06T02:29:56Z</dcterms:modified>
  <cp:category/>
</cp:coreProperties>
</file>