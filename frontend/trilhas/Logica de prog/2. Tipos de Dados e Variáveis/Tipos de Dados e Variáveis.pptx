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Etapa 2 — Tipos de Dados e Variáveis (Data </a:t>
            </a:r>
            <a:r>
              <a:rPr lang="pt-BR" dirty="0" err="1"/>
              <a:t>Types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Variables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Trilha: Lógica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Dados (Data)?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Todo programa </a:t>
            </a:r>
            <a:r>
              <a:rPr lang="pt-BR" sz="2400" b="1" dirty="0"/>
              <a:t>manipula dados</a:t>
            </a:r>
            <a:r>
              <a:rPr lang="pt-BR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Dados representam </a:t>
            </a:r>
            <a:r>
              <a:rPr lang="pt-BR" sz="2400" b="1" dirty="0"/>
              <a:t>informações</a:t>
            </a:r>
            <a:r>
              <a:rPr lang="pt-BR" sz="2400" dirty="0"/>
              <a:t> usadas ou geradas pelo algoritmo.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Exemplo: números, textos, valores lógicos. </a:t>
            </a:r>
          </a:p>
          <a:p>
            <a:pPr marL="0" indent="0">
              <a:buNone/>
            </a:pPr>
            <a:r>
              <a:rPr lang="pt-BR" sz="2400" dirty="0"/>
              <a:t>Exemplo:</a:t>
            </a:r>
          </a:p>
          <a:p>
            <a:pPr marL="0" indent="0">
              <a:buNone/>
            </a:pPr>
            <a:r>
              <a:rPr lang="pt-BR" sz="2400" dirty="0"/>
              <a:t>	idade = 20</a:t>
            </a:r>
          </a:p>
          <a:p>
            <a:pPr marL="0" indent="0">
              <a:buNone/>
            </a:pPr>
            <a:r>
              <a:rPr lang="pt-BR" sz="2400" dirty="0"/>
              <a:t>	nome = "Maria”</a:t>
            </a:r>
          </a:p>
          <a:p>
            <a:pPr marL="0" indent="0">
              <a:buNone/>
            </a:pPr>
            <a:r>
              <a:rPr lang="pt-BR" sz="2400" dirty="0"/>
              <a:t>	aprovado = verdadeiro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que são Tipos de Dados (Data </a:t>
            </a:r>
            <a:r>
              <a:rPr lang="pt-BR" dirty="0" err="1"/>
              <a:t>Types</a:t>
            </a:r>
            <a:r>
              <a:rPr lang="pt-BR" dirty="0"/>
              <a:t>)?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Define o </a:t>
            </a:r>
            <a:r>
              <a:rPr lang="pt-BR" b="1" dirty="0"/>
              <a:t>tipo de valor </a:t>
            </a:r>
            <a:r>
              <a:rPr lang="pt-BR" dirty="0"/>
              <a:t>que uma variável pode armazenar.</a:t>
            </a:r>
          </a:p>
          <a:p>
            <a:r>
              <a:rPr lang="pt-BR" dirty="0"/>
              <a:t>Cada tipo ocupa um </a:t>
            </a:r>
            <a:r>
              <a:rPr lang="pt-BR" b="1" dirty="0"/>
              <a:t>espaço diferente na memória.</a:t>
            </a:r>
          </a:p>
          <a:p>
            <a:r>
              <a:rPr lang="pt-BR" dirty="0"/>
              <a:t>Tipos comuns:</a:t>
            </a:r>
          </a:p>
          <a:p>
            <a:pPr lvl="1"/>
            <a:r>
              <a:rPr lang="pt-BR" b="1" dirty="0"/>
              <a:t>Inteiro (</a:t>
            </a:r>
            <a:r>
              <a:rPr lang="pt-BR" b="1" dirty="0" err="1"/>
              <a:t>Integer</a:t>
            </a:r>
            <a:r>
              <a:rPr lang="pt-BR" b="1" dirty="0"/>
              <a:t>) </a:t>
            </a:r>
            <a:r>
              <a:rPr lang="pt-BR" dirty="0"/>
              <a:t>→ números sem parte decimal.</a:t>
            </a:r>
          </a:p>
          <a:p>
            <a:pPr lvl="1"/>
            <a:r>
              <a:rPr lang="pt-BR" b="1" dirty="0"/>
              <a:t>Real (Real/</a:t>
            </a:r>
            <a:r>
              <a:rPr lang="pt-BR" b="1" dirty="0" err="1"/>
              <a:t>Float</a:t>
            </a:r>
            <a:r>
              <a:rPr lang="pt-BR" b="1" dirty="0"/>
              <a:t>) </a:t>
            </a:r>
            <a:r>
              <a:rPr lang="pt-BR" dirty="0"/>
              <a:t>→ números com parte decimal.</a:t>
            </a:r>
          </a:p>
          <a:p>
            <a:pPr lvl="1"/>
            <a:r>
              <a:rPr lang="pt-BR" b="1" dirty="0"/>
              <a:t>Caractere (</a:t>
            </a:r>
            <a:r>
              <a:rPr lang="pt-BR" b="1" dirty="0" err="1"/>
              <a:t>Character</a:t>
            </a:r>
            <a:r>
              <a:rPr lang="pt-BR" b="1" dirty="0"/>
              <a:t>) </a:t>
            </a:r>
            <a:r>
              <a:rPr lang="pt-BR" dirty="0"/>
              <a:t>→ letras ou símbolos individuais.</a:t>
            </a:r>
          </a:p>
          <a:p>
            <a:pPr lvl="1"/>
            <a:r>
              <a:rPr lang="pt-BR" b="1" dirty="0"/>
              <a:t>Cadeia (</a:t>
            </a:r>
            <a:r>
              <a:rPr lang="pt-BR" b="1" dirty="0" err="1"/>
              <a:t>String</a:t>
            </a:r>
            <a:r>
              <a:rPr lang="pt-BR" b="1" dirty="0"/>
              <a:t>) </a:t>
            </a:r>
            <a:r>
              <a:rPr lang="pt-BR" dirty="0"/>
              <a:t>→ sequência de caracteres.</a:t>
            </a:r>
          </a:p>
          <a:p>
            <a:pPr lvl="1"/>
            <a:r>
              <a:rPr lang="pt-BR" b="1" dirty="0"/>
              <a:t>Lógico (</a:t>
            </a:r>
            <a:r>
              <a:rPr lang="pt-BR" b="1" dirty="0" err="1"/>
              <a:t>Boolean</a:t>
            </a:r>
            <a:r>
              <a:rPr lang="pt-BR" b="1" dirty="0"/>
              <a:t>) </a:t>
            </a:r>
            <a:r>
              <a:rPr lang="pt-BR" dirty="0"/>
              <a:t>→ verdadeiro ou falso.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Declaração de Variáveis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	inteiro idade</a:t>
            </a:r>
          </a:p>
          <a:p>
            <a:pPr marL="0" indent="0">
              <a:buNone/>
            </a:pPr>
            <a:r>
              <a:rPr lang="pt-BR" dirty="0"/>
              <a:t>  	real altura</a:t>
            </a:r>
          </a:p>
          <a:p>
            <a:pPr marL="0" indent="0">
              <a:buNone/>
            </a:pPr>
            <a:r>
              <a:rPr lang="pt-BR" dirty="0"/>
              <a:t>  	cadeia nome</a:t>
            </a:r>
          </a:p>
          <a:p>
            <a:pPr marL="0" indent="0">
              <a:buNone/>
            </a:pPr>
            <a:r>
              <a:rPr lang="pt-BR" dirty="0"/>
              <a:t>  	logico aprovado</a:t>
            </a:r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r>
              <a:rPr lang="pt-BR" dirty="0"/>
              <a:t>Isso define </a:t>
            </a:r>
            <a:r>
              <a:rPr lang="pt-BR" b="1" dirty="0"/>
              <a:t>quais tipos de dados</a:t>
            </a:r>
            <a:r>
              <a:rPr lang="pt-BR" dirty="0"/>
              <a:t> cada variável pode armazenar.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Atribuição de Valores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Usamos o operador </a:t>
            </a:r>
            <a:r>
              <a:rPr lang="pt-BR" b="1" dirty="0"/>
              <a:t>←</a:t>
            </a:r>
            <a:r>
              <a:rPr lang="pt-BR" dirty="0"/>
              <a:t> (ou “recebe”) para atribuir valores.</a:t>
            </a:r>
          </a:p>
          <a:p>
            <a:pPr marL="0" indent="0">
              <a:buNone/>
            </a:pPr>
            <a:r>
              <a:rPr lang="pt-BR" b="1" dirty="0"/>
              <a:t>Exemplo: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	idade ← 20</a:t>
            </a:r>
          </a:p>
          <a:p>
            <a:pPr marL="0" indent="0">
              <a:buNone/>
            </a:pPr>
            <a:r>
              <a:rPr lang="pt-BR" dirty="0"/>
              <a:t>  	altura ← 1.75</a:t>
            </a:r>
          </a:p>
          <a:p>
            <a:pPr marL="0" indent="0">
              <a:buNone/>
            </a:pPr>
            <a:r>
              <a:rPr lang="pt-BR" dirty="0"/>
              <a:t> 	 nome ← "Carlos"</a:t>
            </a:r>
          </a:p>
          <a:p>
            <a:pPr marL="0" indent="0">
              <a:buNone/>
            </a:pPr>
            <a:r>
              <a:rPr lang="pt-BR" dirty="0"/>
              <a:t> 	 aprovado ← verdadeiro</a:t>
            </a:r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pPr marL="0" indent="0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Entradas e Saídas de Dados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Entrada (Input)</a:t>
            </a:r>
            <a:r>
              <a:rPr lang="pt-BR" dirty="0"/>
              <a:t>:</a:t>
            </a:r>
            <a:r>
              <a:rPr lang="pt-BR" b="1" dirty="0"/>
              <a:t> </a:t>
            </a:r>
            <a:r>
              <a:rPr lang="pt-BR" dirty="0"/>
              <a:t>dados fornecidos pelo usuário → leia</a:t>
            </a:r>
          </a:p>
          <a:p>
            <a:r>
              <a:rPr lang="pt-BR" b="1" dirty="0"/>
              <a:t>Saída (Output)</a:t>
            </a:r>
            <a:r>
              <a:rPr lang="pt-BR" dirty="0"/>
              <a:t>:</a:t>
            </a:r>
            <a:r>
              <a:rPr lang="pt-BR" b="1" dirty="0"/>
              <a:t> </a:t>
            </a:r>
            <a:r>
              <a:rPr lang="pt-BR" dirty="0"/>
              <a:t>dados exibidos → escreva</a:t>
            </a:r>
          </a:p>
          <a:p>
            <a:pPr marL="0" indent="0">
              <a:buNone/>
            </a:pPr>
            <a:r>
              <a:rPr lang="pt-BR" b="1" dirty="0"/>
              <a:t>Exemplo: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leia nome</a:t>
            </a:r>
          </a:p>
          <a:p>
            <a:pPr marL="0" indent="0">
              <a:buNone/>
            </a:pPr>
            <a:r>
              <a:rPr lang="pt-BR" dirty="0"/>
              <a:t>  escreva "Olá,", nome</a:t>
            </a:r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2166D-F70F-4C2F-BCFC-7AA60CC1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com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18C5DB-9B3D-417C-9276-14443FDD9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Variáveis podem ser usadas em </a:t>
            </a:r>
            <a:r>
              <a:rPr lang="pt-BR" b="1" dirty="0"/>
              <a:t>expressões matemáticas e lógicas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b="1" dirty="0"/>
              <a:t>Exemplo: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leia a, b</a:t>
            </a:r>
          </a:p>
          <a:p>
            <a:pPr marL="0" indent="0">
              <a:buNone/>
            </a:pPr>
            <a:r>
              <a:rPr lang="pt-BR" dirty="0"/>
              <a:t>  soma ← a + b</a:t>
            </a:r>
          </a:p>
          <a:p>
            <a:pPr marL="0" indent="0">
              <a:buNone/>
            </a:pPr>
            <a:r>
              <a:rPr lang="pt-BR" dirty="0"/>
              <a:t>  media ← soma / 2</a:t>
            </a:r>
          </a:p>
          <a:p>
            <a:pPr marL="0" indent="0">
              <a:buNone/>
            </a:pPr>
            <a:r>
              <a:rPr lang="pt-BR" dirty="0"/>
              <a:t>  escreva "Média =", media</a:t>
            </a:r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354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FFB8E-A925-4174-8739-C08A4B9D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Convenções de Nomes (</a:t>
            </a:r>
            <a:r>
              <a:rPr lang="pt-BR" dirty="0" err="1"/>
              <a:t>Naming</a:t>
            </a:r>
            <a:r>
              <a:rPr lang="pt-BR" dirty="0"/>
              <a:t> </a:t>
            </a:r>
            <a:r>
              <a:rPr lang="pt-BR" dirty="0" err="1"/>
              <a:t>Conventions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49645-D6E9-49B9-ADDA-9E883F83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✅ Use nomes claros e significativos.</a:t>
            </a:r>
          </a:p>
          <a:p>
            <a:pPr marL="0" indent="0">
              <a:buNone/>
            </a:pPr>
            <a:r>
              <a:rPr lang="pt-BR" dirty="0"/>
              <a:t>❌ Evite abreviações confusas.</a:t>
            </a:r>
          </a:p>
          <a:p>
            <a:r>
              <a:rPr lang="pt-BR" dirty="0"/>
              <a:t>Exemplo bom: </a:t>
            </a:r>
            <a:r>
              <a:rPr lang="pt-BR" dirty="0" err="1"/>
              <a:t>media_final</a:t>
            </a:r>
            <a:r>
              <a:rPr lang="pt-BR" dirty="0"/>
              <a:t>, </a:t>
            </a:r>
            <a:r>
              <a:rPr lang="pt-BR" dirty="0" err="1"/>
              <a:t>nome_aluno</a:t>
            </a:r>
            <a:endParaRPr lang="pt-BR" dirty="0"/>
          </a:p>
          <a:p>
            <a:r>
              <a:rPr lang="pt-BR" dirty="0"/>
              <a:t>Exemplo ruim: m, </a:t>
            </a:r>
            <a:r>
              <a:rPr lang="pt-BR" dirty="0" err="1"/>
              <a:t>temp</a:t>
            </a:r>
            <a:r>
              <a:rPr lang="pt-BR" dirty="0"/>
              <a:t>, xx1</a:t>
            </a:r>
          </a:p>
        </p:txBody>
      </p:sp>
    </p:spTree>
    <p:extLst>
      <p:ext uri="{BB962C8B-B14F-4D97-AF65-F5344CB8AC3E}">
        <p14:creationId xmlns:p14="http://schemas.microsoft.com/office/powerpoint/2010/main" val="204867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70B27-1C68-4081-ACCD-3AFCF40F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Regras para Nomes de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646785-0DB0-4C42-A1F2-D949FB209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Devem começar com </a:t>
            </a:r>
            <a:r>
              <a:rPr lang="pt-BR" b="1" dirty="0"/>
              <a:t>letra</a:t>
            </a:r>
            <a:r>
              <a:rPr lang="pt-BR" dirty="0"/>
              <a:t>.</a:t>
            </a:r>
          </a:p>
          <a:p>
            <a:r>
              <a:rPr lang="pt-BR" dirty="0"/>
              <a:t>Não podem ter </a:t>
            </a:r>
            <a:r>
              <a:rPr lang="pt-BR" b="1" dirty="0"/>
              <a:t>espaços</a:t>
            </a:r>
            <a:r>
              <a:rPr lang="pt-BR" dirty="0"/>
              <a:t> nem </a:t>
            </a:r>
            <a:r>
              <a:rPr lang="pt-BR" b="1" dirty="0"/>
              <a:t>acentos</a:t>
            </a:r>
            <a:r>
              <a:rPr lang="pt-BR" dirty="0"/>
              <a:t>.</a:t>
            </a:r>
          </a:p>
          <a:p>
            <a:r>
              <a:rPr lang="pt-BR" dirty="0"/>
              <a:t>Diferenciam </a:t>
            </a:r>
            <a:r>
              <a:rPr lang="pt-BR" b="1" dirty="0"/>
              <a:t>maiúsculas</a:t>
            </a:r>
            <a:r>
              <a:rPr lang="pt-BR" dirty="0"/>
              <a:t> e </a:t>
            </a:r>
            <a:r>
              <a:rPr lang="pt-BR" b="1" dirty="0"/>
              <a:t>minúsculas</a:t>
            </a:r>
            <a:r>
              <a:rPr lang="pt-BR" dirty="0"/>
              <a:t>.</a:t>
            </a:r>
          </a:p>
          <a:p>
            <a:r>
              <a:rPr lang="pt-BR" dirty="0"/>
              <a:t>Evite palavras reservadas (inicio, fim, se...).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32646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 Completo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algoritmo "</a:t>
            </a:r>
            <a:r>
              <a:rPr lang="pt-BR" dirty="0" err="1"/>
              <a:t>informacoes_pessoais</a:t>
            </a:r>
            <a:r>
              <a:rPr lang="pt-BR" dirty="0"/>
              <a:t>"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	cadeia nome</a:t>
            </a:r>
          </a:p>
          <a:p>
            <a:pPr marL="0" indent="0">
              <a:buNone/>
            </a:pPr>
            <a:r>
              <a:rPr lang="pt-BR" dirty="0"/>
              <a:t>	inteiro idade</a:t>
            </a:r>
          </a:p>
          <a:p>
            <a:pPr marL="0" indent="0">
              <a:buNone/>
            </a:pPr>
            <a:r>
              <a:rPr lang="pt-BR" dirty="0"/>
              <a:t>	leia nome, idade</a:t>
            </a:r>
          </a:p>
          <a:p>
            <a:pPr marL="0" indent="0">
              <a:buNone/>
            </a:pPr>
            <a:r>
              <a:rPr lang="pt-BR" dirty="0"/>
              <a:t>  escreva "Olá,", nome, "você tem", idade, "anos."</a:t>
            </a:r>
          </a:p>
          <a:p>
            <a:pPr marL="0" indent="0">
              <a:buNone/>
            </a:pPr>
            <a:r>
              <a:rPr lang="pt-BR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4017615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Variáveis</a:t>
            </a:r>
            <a:r>
              <a:rPr lang="pt-BR" dirty="0"/>
              <a:t> armazenam valores na memória.</a:t>
            </a:r>
          </a:p>
          <a:p>
            <a:r>
              <a:rPr lang="pt-BR" dirty="0"/>
              <a:t>Cada variável possui um </a:t>
            </a:r>
            <a:r>
              <a:rPr lang="pt-BR" b="1" dirty="0"/>
              <a:t>tipo de dado </a:t>
            </a:r>
            <a:r>
              <a:rPr lang="pt-BR" dirty="0"/>
              <a:t>definido.</a:t>
            </a:r>
          </a:p>
          <a:p>
            <a:r>
              <a:rPr lang="pt-BR" dirty="0"/>
              <a:t>Escolher o tipo correto evita </a:t>
            </a:r>
            <a:r>
              <a:rPr lang="pt-BR" b="1" dirty="0"/>
              <a:t>erros lógicos </a:t>
            </a:r>
            <a:r>
              <a:rPr lang="pt-BR" dirty="0"/>
              <a:t>no algoritmo.</a:t>
            </a:r>
          </a:p>
        </p:txBody>
      </p:sp>
    </p:spTree>
    <p:extLst>
      <p:ext uri="{BB962C8B-B14F-4D97-AF65-F5344CB8AC3E}">
        <p14:creationId xmlns:p14="http://schemas.microsoft.com/office/powerpoint/2010/main" val="4235389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342</Words>
  <Application>Microsoft Office PowerPoint</Application>
  <PresentationFormat>Apresentação na tela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Etapa 2 — Tipos de Dados e Variáveis (Data Types and Variables)</vt:lpstr>
      <vt:lpstr>O que são Dados (Data)?</vt:lpstr>
      <vt:lpstr>O que são Tipos de Dados (Data Types)?</vt:lpstr>
      <vt:lpstr>Exemplo de Declaração de Variáveis</vt:lpstr>
      <vt:lpstr>Atribuição de Valores</vt:lpstr>
      <vt:lpstr>Entradas e Saídas de Dados</vt:lpstr>
      <vt:lpstr>Operações com Variáveis</vt:lpstr>
      <vt:lpstr>Convenções de Nomes (Naming Conventions)</vt:lpstr>
      <vt:lpstr>Regras para Nomes de Variáveis</vt:lpstr>
      <vt:lpstr>Exemplo Prático Completo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Introdução a Algoritmos e Pseudocódigo</dc:title>
  <dc:subject/>
  <dc:creator/>
  <cp:keywords/>
  <dc:description>generated using python-pptx</dc:description>
  <cp:lastModifiedBy>Murilo Rocha</cp:lastModifiedBy>
  <cp:revision>15</cp:revision>
  <dcterms:created xsi:type="dcterms:W3CDTF">2013-01-27T09:14:16Z</dcterms:created>
  <dcterms:modified xsi:type="dcterms:W3CDTF">2025-11-06T02:58:35Z</dcterms:modified>
  <cp:category/>
</cp:coreProperties>
</file>