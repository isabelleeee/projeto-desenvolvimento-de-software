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7" r:id="rId5"/>
    <p:sldId id="260" r:id="rId6"/>
    <p:sldId id="268" r:id="rId7"/>
    <p:sldId id="269" r:id="rId8"/>
    <p:sldId id="271" r:id="rId9"/>
    <p:sldId id="263" r:id="rId10"/>
    <p:sldId id="264" r:id="rId11"/>
    <p:sldId id="265" r:id="rId12"/>
    <p:sldId id="266" r:id="rId13"/>
    <p:sldId id="272" r:id="rId14"/>
    <p:sldId id="273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Etapa 5 — Estruturas de Repetição (Loops)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que são Estruturas de Repetição?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São usadas para </a:t>
            </a:r>
            <a:r>
              <a:rPr lang="pt-BR" sz="2400" b="1" dirty="0"/>
              <a:t>executar um mesmo conjunto de instruções várias vezes.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Evitam </a:t>
            </a:r>
            <a:r>
              <a:rPr lang="pt-BR" sz="2400" b="1" dirty="0"/>
              <a:t>repetição manual </a:t>
            </a:r>
            <a:r>
              <a:rPr lang="pt-BR" sz="2400" dirty="0"/>
              <a:t>de comandos.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Permitem que o algoritmo seja mais </a:t>
            </a:r>
            <a:r>
              <a:rPr lang="pt-BR" sz="2400" b="1" dirty="0"/>
              <a:t>eficiente e dinâmico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Exibir uma contagem de 1 até 10 automaticamente.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Estruturas de Repetição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Enquanto (</a:t>
            </a:r>
            <a:r>
              <a:rPr lang="pt-BR" b="1" dirty="0" err="1"/>
              <a:t>While</a:t>
            </a:r>
            <a:r>
              <a:rPr lang="pt-BR" b="1" dirty="0"/>
              <a:t> Loop) </a:t>
            </a:r>
            <a:r>
              <a:rPr lang="pt-BR" dirty="0"/>
              <a:t>— repete </a:t>
            </a:r>
            <a:r>
              <a:rPr lang="pt-BR" b="1" dirty="0"/>
              <a:t>enquanto a condição for verdadeira.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Repita...até (Do...</a:t>
            </a:r>
            <a:r>
              <a:rPr lang="pt-BR" b="1" dirty="0" err="1"/>
              <a:t>Until</a:t>
            </a:r>
            <a:r>
              <a:rPr lang="pt-BR" b="1" dirty="0"/>
              <a:t> Loop) </a:t>
            </a:r>
            <a:r>
              <a:rPr lang="pt-BR" dirty="0"/>
              <a:t>— repete </a:t>
            </a:r>
            <a:r>
              <a:rPr lang="pt-BR" b="1" dirty="0"/>
              <a:t>até que a condição seja verdadeira.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Para (For Loop) </a:t>
            </a:r>
            <a:r>
              <a:rPr lang="pt-BR" dirty="0"/>
              <a:t>— repete </a:t>
            </a:r>
            <a:r>
              <a:rPr lang="pt-BR" b="1" dirty="0"/>
              <a:t>um número determinado de vezes.</a:t>
            </a:r>
          </a:p>
          <a:p>
            <a:pPr marL="0" indent="0">
              <a:buNone/>
            </a:pPr>
            <a:r>
              <a:rPr lang="pt-BR" dirty="0"/>
              <a:t>Cada uma delas é útil em </a:t>
            </a:r>
            <a:r>
              <a:rPr lang="pt-BR" b="1" dirty="0"/>
              <a:t>situações diferentes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“Enquanto” (</a:t>
            </a:r>
            <a:r>
              <a:rPr lang="pt-BR" dirty="0" err="1"/>
              <a:t>While</a:t>
            </a:r>
            <a:r>
              <a:rPr lang="pt-BR" dirty="0"/>
              <a:t> Loop)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Sintaxe em pseudocódigo:</a:t>
            </a:r>
          </a:p>
          <a:p>
            <a:pPr marL="0" indent="0">
              <a:buNone/>
            </a:pPr>
            <a:r>
              <a:rPr lang="pt-BR" sz="2000" dirty="0"/>
              <a:t>enquanto (</a:t>
            </a:r>
            <a:r>
              <a:rPr lang="pt-BR" sz="2000" dirty="0" err="1"/>
              <a:t>condicao</a:t>
            </a:r>
            <a:r>
              <a:rPr lang="pt-BR" sz="2000" dirty="0"/>
              <a:t>) faca</a:t>
            </a:r>
          </a:p>
          <a:p>
            <a:pPr marL="0" indent="0">
              <a:buNone/>
            </a:pPr>
            <a:r>
              <a:rPr lang="pt-BR" sz="2000" dirty="0"/>
              <a:t>   	// ações repetidas</a:t>
            </a:r>
          </a:p>
          <a:p>
            <a:pPr marL="0" indent="0">
              <a:buNone/>
            </a:pPr>
            <a:r>
              <a:rPr lang="pt-BR" sz="2000" dirty="0" err="1"/>
              <a:t>fimenquanto</a:t>
            </a:r>
            <a:endParaRPr lang="pt-BR" sz="2000" dirty="0"/>
          </a:p>
          <a:p>
            <a:r>
              <a:rPr lang="pt-BR" sz="2000" b="1" dirty="0"/>
              <a:t>Exemplo:</a:t>
            </a:r>
          </a:p>
          <a:p>
            <a:pPr marL="0" indent="0">
              <a:buNone/>
            </a:pPr>
            <a:r>
              <a:rPr lang="pt-BR" sz="2000" dirty="0"/>
              <a:t>inicio</a:t>
            </a:r>
          </a:p>
          <a:p>
            <a:pPr marL="0" indent="0">
              <a:buNone/>
            </a:pPr>
            <a:r>
              <a:rPr lang="pt-BR" sz="2000" dirty="0"/>
              <a:t>  	contador ← 1</a:t>
            </a:r>
          </a:p>
          <a:p>
            <a:pPr marL="0" indent="0">
              <a:buNone/>
            </a:pPr>
            <a:r>
              <a:rPr lang="pt-BR" sz="2000" dirty="0"/>
              <a:t>  	enquanto contador &lt;= 5 faca</a:t>
            </a:r>
          </a:p>
          <a:p>
            <a:pPr marL="0" indent="0">
              <a:buNone/>
            </a:pPr>
            <a:r>
              <a:rPr lang="pt-BR" sz="2000" dirty="0"/>
              <a:t>     		escreva contador</a:t>
            </a:r>
          </a:p>
          <a:p>
            <a:pPr marL="0" indent="0">
              <a:buNone/>
            </a:pPr>
            <a:r>
              <a:rPr lang="pt-BR" sz="2000" dirty="0"/>
              <a:t>     		contador ← contador + 1</a:t>
            </a:r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fimenquanto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fim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126995B-10D6-4694-AAAC-E1B237BF270F}"/>
              </a:ext>
            </a:extLst>
          </p:cNvPr>
          <p:cNvSpPr/>
          <p:nvPr/>
        </p:nvSpPr>
        <p:spPr>
          <a:xfrm>
            <a:off x="4572000" y="1600200"/>
            <a:ext cx="228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Saída:</a:t>
            </a:r>
          </a:p>
          <a:p>
            <a:r>
              <a:rPr lang="pt-BR" sz="2000" dirty="0"/>
              <a:t>1</a:t>
            </a:r>
            <a:br>
              <a:rPr lang="pt-BR" sz="2000" dirty="0"/>
            </a:br>
            <a:r>
              <a:rPr lang="pt-BR" sz="2000" dirty="0"/>
              <a:t>2</a:t>
            </a:r>
            <a:br>
              <a:rPr lang="pt-BR" sz="2000" dirty="0"/>
            </a:br>
            <a:r>
              <a:rPr lang="pt-BR" sz="2000" dirty="0"/>
              <a:t>3</a:t>
            </a:r>
            <a:br>
              <a:rPr lang="pt-BR" sz="2000" dirty="0"/>
            </a:br>
            <a:r>
              <a:rPr lang="pt-BR" sz="2000" dirty="0"/>
              <a:t>4</a:t>
            </a:r>
            <a:br>
              <a:rPr lang="pt-BR" sz="2000" dirty="0"/>
            </a:br>
            <a:r>
              <a:rPr lang="pt-BR" sz="2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442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Funciona o “Enquanto”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dirty="0"/>
              <a:t>A </a:t>
            </a:r>
            <a:r>
              <a:rPr lang="pt-BR" b="1" dirty="0"/>
              <a:t>condição é testada antes</a:t>
            </a:r>
            <a:r>
              <a:rPr lang="pt-BR" dirty="0"/>
              <a:t> de executar o bloco.</a:t>
            </a:r>
          </a:p>
          <a:p>
            <a:r>
              <a:rPr lang="pt-BR" dirty="0"/>
              <a:t>Se for </a:t>
            </a:r>
            <a:r>
              <a:rPr lang="pt-BR" b="1" dirty="0"/>
              <a:t>verdadeira</a:t>
            </a:r>
            <a:r>
              <a:rPr lang="pt-BR" dirty="0"/>
              <a:t>, o bloco executa.</a:t>
            </a:r>
          </a:p>
          <a:p>
            <a:r>
              <a:rPr lang="pt-BR" dirty="0"/>
              <a:t>Se for </a:t>
            </a:r>
            <a:r>
              <a:rPr lang="pt-BR" b="1" dirty="0"/>
              <a:t>falsa</a:t>
            </a:r>
            <a:r>
              <a:rPr lang="pt-BR" dirty="0"/>
              <a:t>, o laço termina. </a:t>
            </a:r>
          </a:p>
          <a:p>
            <a:r>
              <a:rPr lang="pt-BR" dirty="0"/>
              <a:t>Dica: Use quando </a:t>
            </a:r>
            <a:r>
              <a:rPr lang="pt-BR" b="1" dirty="0"/>
              <a:t>não sabe exatamente quantas vezes</a:t>
            </a:r>
            <a:r>
              <a:rPr lang="pt-BR" dirty="0"/>
              <a:t> o loop vai se repetir.</a:t>
            </a:r>
          </a:p>
          <a:p>
            <a:r>
              <a:rPr lang="pt-BR" b="1" dirty="0"/>
              <a:t>Exemplo prático:</a:t>
            </a:r>
          </a:p>
          <a:p>
            <a:pPr marL="0" indent="0">
              <a:buNone/>
            </a:pPr>
            <a:r>
              <a:rPr lang="pt-BR" dirty="0"/>
              <a:t>Ler notas até que o usuário digite “0”.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“Repita...até” (Do...</a:t>
            </a:r>
            <a:r>
              <a:rPr lang="pt-BR" dirty="0" err="1"/>
              <a:t>Until</a:t>
            </a:r>
            <a:r>
              <a:rPr lang="pt-BR" dirty="0"/>
              <a:t> Loop)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74381"/>
            <a:ext cx="4114799" cy="4525963"/>
          </a:xfrm>
        </p:spPr>
        <p:txBody>
          <a:bodyPr>
            <a:noAutofit/>
          </a:bodyPr>
          <a:lstStyle/>
          <a:p>
            <a:r>
              <a:rPr lang="pt-BR" sz="2000" b="1" dirty="0"/>
              <a:t>Sintaxe:</a:t>
            </a:r>
          </a:p>
          <a:p>
            <a:pPr marL="0" indent="0">
              <a:buNone/>
            </a:pPr>
            <a:r>
              <a:rPr lang="pt-BR" sz="2000" dirty="0"/>
              <a:t>repita</a:t>
            </a:r>
          </a:p>
          <a:p>
            <a:pPr marL="0" indent="0">
              <a:buNone/>
            </a:pPr>
            <a:r>
              <a:rPr lang="pt-BR" sz="2000" dirty="0"/>
              <a:t>   // ações</a:t>
            </a:r>
          </a:p>
          <a:p>
            <a:pPr marL="0" indent="0">
              <a:buNone/>
            </a:pPr>
            <a:r>
              <a:rPr lang="pt-BR" sz="2000" dirty="0"/>
              <a:t>ate (</a:t>
            </a:r>
            <a:r>
              <a:rPr lang="pt-BR" sz="2000" dirty="0" err="1"/>
              <a:t>condicao</a:t>
            </a:r>
            <a:r>
              <a:rPr lang="pt-BR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Exemplo:</a:t>
            </a:r>
          </a:p>
          <a:p>
            <a:pPr marL="0" indent="0">
              <a:buNone/>
            </a:pPr>
            <a:r>
              <a:rPr lang="pt-BR" sz="2000" dirty="0"/>
              <a:t>inicio</a:t>
            </a:r>
          </a:p>
          <a:p>
            <a:pPr marL="0" indent="0">
              <a:buNone/>
            </a:pPr>
            <a:r>
              <a:rPr lang="pt-BR" sz="2000" dirty="0"/>
              <a:t>  	contador ← 1</a:t>
            </a:r>
          </a:p>
          <a:p>
            <a:pPr marL="0" indent="0">
              <a:buNone/>
            </a:pPr>
            <a:r>
              <a:rPr lang="pt-BR" sz="2000" dirty="0"/>
              <a:t>  	repita</a:t>
            </a:r>
          </a:p>
          <a:p>
            <a:pPr marL="0" indent="0">
              <a:buNone/>
            </a:pPr>
            <a:r>
              <a:rPr lang="pt-BR" sz="2000" dirty="0"/>
              <a:t>     		escreva contador</a:t>
            </a:r>
          </a:p>
          <a:p>
            <a:pPr marL="0" indent="0">
              <a:buNone/>
            </a:pPr>
            <a:r>
              <a:rPr lang="pt-BR" sz="2000" dirty="0"/>
              <a:t>     		contador ← contador + 1</a:t>
            </a:r>
          </a:p>
          <a:p>
            <a:pPr marL="0" indent="0">
              <a:buNone/>
            </a:pPr>
            <a:r>
              <a:rPr lang="pt-BR" sz="2000" dirty="0"/>
              <a:t>  	ate (contador &gt; 5)</a:t>
            </a:r>
          </a:p>
          <a:p>
            <a:pPr marL="0" indent="0">
              <a:buNone/>
            </a:pPr>
            <a:r>
              <a:rPr lang="pt-BR" sz="2000" dirty="0"/>
              <a:t>fim</a:t>
            </a:r>
          </a:p>
          <a:p>
            <a:pPr marL="0" indent="0">
              <a:buNone/>
            </a:pPr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2A0CFF7-8159-493F-B50E-4E8444C552B6}"/>
              </a:ext>
            </a:extLst>
          </p:cNvPr>
          <p:cNvSpPr/>
          <p:nvPr/>
        </p:nvSpPr>
        <p:spPr>
          <a:xfrm>
            <a:off x="4572000" y="1874381"/>
            <a:ext cx="4114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Saída:</a:t>
            </a:r>
          </a:p>
          <a:p>
            <a:r>
              <a:rPr lang="pt-BR" sz="2000" dirty="0"/>
              <a:t>1</a:t>
            </a:r>
          </a:p>
          <a:p>
            <a:r>
              <a:rPr lang="pt-BR" sz="2000" dirty="0"/>
              <a:t>2</a:t>
            </a:r>
          </a:p>
          <a:p>
            <a:r>
              <a:rPr lang="pt-BR" sz="2000" dirty="0"/>
              <a:t>3</a:t>
            </a:r>
          </a:p>
          <a:p>
            <a:r>
              <a:rPr lang="pt-BR" sz="2000" dirty="0"/>
              <a:t>4</a:t>
            </a:r>
          </a:p>
          <a:p>
            <a:r>
              <a:rPr lang="pt-BR" sz="2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2945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Diferença Entre “Enquanto” e “Repita”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5743"/>
            <a:ext cx="8229600" cy="1306513"/>
          </a:xfrm>
        </p:spPr>
        <p:txBody>
          <a:bodyPr>
            <a:noAutofit/>
          </a:bodyPr>
          <a:lstStyle/>
          <a:p>
            <a:r>
              <a:rPr lang="pt-BR" sz="2000" b="1" dirty="0"/>
              <a:t>Exemplo de uso:</a:t>
            </a:r>
          </a:p>
          <a:p>
            <a:pPr marL="0" indent="0">
              <a:buNone/>
            </a:pPr>
            <a:r>
              <a:rPr lang="pt-BR" sz="2000" dirty="0"/>
              <a:t>repita...ate é ideal para menus que devem aparecer ao menos uma vez.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C903EB6-78AC-4F3B-ABDC-8E20302E9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26447"/>
              </p:ext>
            </p:extLst>
          </p:nvPr>
        </p:nvGraphicFramePr>
        <p:xfrm>
          <a:off x="457200" y="1417638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4887192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97519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92964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/>
                        <a:t>Estrutura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Teste da Condição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Execução Mínima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1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enquanto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Antes do bloco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Pode não executar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308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repita...ate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Depois do bloco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Executa </a:t>
                      </a:r>
                      <a:r>
                        <a:rPr lang="pt-BR" b="1" dirty="0"/>
                        <a:t>ao menos uma vez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66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67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“Para” (For Loop)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74381"/>
            <a:ext cx="4114799" cy="4525963"/>
          </a:xfrm>
        </p:spPr>
        <p:txBody>
          <a:bodyPr>
            <a:noAutofit/>
          </a:bodyPr>
          <a:lstStyle/>
          <a:p>
            <a:r>
              <a:rPr lang="pt-BR" sz="2000" b="1" dirty="0"/>
              <a:t>Sintaxe:</a:t>
            </a:r>
          </a:p>
          <a:p>
            <a:pPr marL="0" indent="0">
              <a:buNone/>
            </a:pPr>
            <a:r>
              <a:rPr lang="pt-BR" sz="2000" dirty="0"/>
              <a:t>para contador de inicio ate fim faca</a:t>
            </a:r>
          </a:p>
          <a:p>
            <a:pPr marL="0" indent="0">
              <a:buNone/>
            </a:pPr>
            <a:r>
              <a:rPr lang="pt-BR" sz="2000" dirty="0"/>
              <a:t>   // ações</a:t>
            </a:r>
          </a:p>
          <a:p>
            <a:pPr marL="0" indent="0">
              <a:buNone/>
            </a:pPr>
            <a:r>
              <a:rPr lang="pt-BR" sz="2000" dirty="0" err="1"/>
              <a:t>fimpara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Exemplo:</a:t>
            </a:r>
          </a:p>
          <a:p>
            <a:pPr marL="0" indent="0">
              <a:buNone/>
            </a:pPr>
            <a:r>
              <a:rPr lang="pt-BR" sz="2000" dirty="0"/>
              <a:t>inicio</a:t>
            </a:r>
          </a:p>
          <a:p>
            <a:pPr marL="0" indent="0">
              <a:buNone/>
            </a:pPr>
            <a:r>
              <a:rPr lang="pt-BR" sz="2000" dirty="0"/>
              <a:t>  	para i de 1 ate 5 faca</a:t>
            </a:r>
          </a:p>
          <a:p>
            <a:pPr marL="0" indent="0">
              <a:buNone/>
            </a:pPr>
            <a:r>
              <a:rPr lang="pt-BR" sz="2000" dirty="0"/>
              <a:t>     		escreva "Valor:", i</a:t>
            </a:r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fimpara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fim</a:t>
            </a:r>
          </a:p>
          <a:p>
            <a:pPr marL="0" indent="0">
              <a:buNone/>
            </a:pPr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2A0CFF7-8159-493F-B50E-4E8444C552B6}"/>
              </a:ext>
            </a:extLst>
          </p:cNvPr>
          <p:cNvSpPr/>
          <p:nvPr/>
        </p:nvSpPr>
        <p:spPr>
          <a:xfrm>
            <a:off x="4572000" y="1874381"/>
            <a:ext cx="4114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Saída:</a:t>
            </a:r>
          </a:p>
          <a:p>
            <a:r>
              <a:rPr lang="pt-BR" sz="2000" dirty="0"/>
              <a:t>Valor: 1</a:t>
            </a:r>
            <a:br>
              <a:rPr lang="pt-BR" sz="2000" dirty="0"/>
            </a:br>
            <a:r>
              <a:rPr lang="pt-BR" sz="2000" dirty="0"/>
              <a:t>Valor: 2</a:t>
            </a:r>
            <a:br>
              <a:rPr lang="pt-BR" sz="2000" dirty="0"/>
            </a:br>
            <a:r>
              <a:rPr lang="pt-BR" sz="2000" dirty="0"/>
              <a:t>Valor: 3</a:t>
            </a:r>
            <a:br>
              <a:rPr lang="pt-BR" sz="2000" dirty="0"/>
            </a:br>
            <a:r>
              <a:rPr lang="pt-BR" sz="2000" dirty="0"/>
              <a:t>Valor: 4</a:t>
            </a:r>
            <a:br>
              <a:rPr lang="pt-BR" sz="2000" dirty="0"/>
            </a:br>
            <a:r>
              <a:rPr lang="pt-BR" sz="2000" dirty="0"/>
              <a:t>Valor: 5</a:t>
            </a:r>
          </a:p>
        </p:txBody>
      </p:sp>
    </p:spTree>
    <p:extLst>
      <p:ext uri="{BB962C8B-B14F-4D97-AF65-F5344CB8AC3E}">
        <p14:creationId xmlns:p14="http://schemas.microsoft.com/office/powerpoint/2010/main" val="383435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Funciona o “Para”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Executa um número </a:t>
            </a:r>
            <a:r>
              <a:rPr lang="pt-BR" b="1" dirty="0"/>
              <a:t>fixo de repetições</a:t>
            </a:r>
            <a:r>
              <a:rPr lang="pt-BR" dirty="0"/>
              <a:t>.</a:t>
            </a:r>
          </a:p>
          <a:p>
            <a:r>
              <a:rPr lang="pt-BR" dirty="0"/>
              <a:t>O contador é </a:t>
            </a:r>
            <a:r>
              <a:rPr lang="pt-BR" b="1" dirty="0"/>
              <a:t>incrementado automaticamente </a:t>
            </a:r>
            <a:r>
              <a:rPr lang="pt-BR" dirty="0"/>
              <a:t>a cada iteração.</a:t>
            </a:r>
          </a:p>
          <a:p>
            <a:r>
              <a:rPr lang="pt-BR" dirty="0"/>
              <a:t>Ideal para </a:t>
            </a:r>
            <a:r>
              <a:rPr lang="pt-BR" b="1" dirty="0"/>
              <a:t>listas, contagens e cálculos repetitivos</a:t>
            </a:r>
            <a:r>
              <a:rPr lang="pt-BR" dirty="0"/>
              <a:t>.</a:t>
            </a:r>
          </a:p>
          <a:p>
            <a:r>
              <a:rPr lang="pt-BR" b="1" dirty="0"/>
              <a:t>Exemplo prático:</a:t>
            </a:r>
          </a:p>
          <a:p>
            <a:pPr marL="0" indent="0">
              <a:buNone/>
            </a:pPr>
            <a:r>
              <a:rPr lang="pt-BR" dirty="0"/>
              <a:t>Calcular a soma de 1 até 100.</a:t>
            </a:r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Incremento (</a:t>
            </a:r>
            <a:r>
              <a:rPr lang="pt-BR" dirty="0" err="1"/>
              <a:t>Step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</a:t>
            </a:r>
            <a:r>
              <a:rPr lang="pt-BR" b="1" dirty="0"/>
              <a:t>passo (</a:t>
            </a:r>
            <a:r>
              <a:rPr lang="pt-BR" b="1" dirty="0" err="1"/>
              <a:t>step</a:t>
            </a:r>
            <a:r>
              <a:rPr lang="pt-BR" b="1" dirty="0"/>
              <a:t>)</a:t>
            </a:r>
            <a:r>
              <a:rPr lang="pt-BR" dirty="0"/>
              <a:t> define </a:t>
            </a:r>
            <a:r>
              <a:rPr lang="pt-BR" b="1" dirty="0"/>
              <a:t>quanto o contador aumenta ou diminui</a:t>
            </a:r>
            <a:r>
              <a:rPr lang="pt-BR" dirty="0"/>
              <a:t>.</a:t>
            </a:r>
          </a:p>
          <a:p>
            <a:r>
              <a:rPr lang="pt-BR" b="1" dirty="0"/>
              <a:t>Exemplo crescente:</a:t>
            </a:r>
          </a:p>
          <a:p>
            <a:pPr marL="0" indent="0">
              <a:buNone/>
            </a:pPr>
            <a:r>
              <a:rPr lang="pt-BR" dirty="0"/>
              <a:t>para i de 1 ate 10 passo 2 faca</a:t>
            </a:r>
          </a:p>
          <a:p>
            <a:pPr marL="0" indent="0">
              <a:buNone/>
            </a:pPr>
            <a:r>
              <a:rPr lang="pt-BR" dirty="0"/>
              <a:t>   	escreva i</a:t>
            </a:r>
          </a:p>
          <a:p>
            <a:pPr marL="0" indent="0">
              <a:buNone/>
            </a:pPr>
            <a:r>
              <a:rPr lang="pt-BR" dirty="0" err="1"/>
              <a:t>fimpara</a:t>
            </a:r>
            <a:endParaRPr lang="pt-BR" dirty="0"/>
          </a:p>
          <a:p>
            <a:r>
              <a:rPr lang="pt-BR" b="1" dirty="0"/>
              <a:t>Exemplo decrescente:</a:t>
            </a:r>
          </a:p>
          <a:p>
            <a:pPr marL="0" indent="0">
              <a:buNone/>
            </a:pPr>
            <a:r>
              <a:rPr lang="pt-BR" dirty="0"/>
              <a:t>para i de 10 ate 1 passo -1 faca</a:t>
            </a:r>
          </a:p>
          <a:p>
            <a:pPr marL="0" indent="0">
              <a:buNone/>
            </a:pPr>
            <a:r>
              <a:rPr lang="pt-BR" dirty="0"/>
              <a:t>   	escreva i</a:t>
            </a:r>
          </a:p>
          <a:p>
            <a:pPr marL="0" indent="0">
              <a:buNone/>
            </a:pPr>
            <a:r>
              <a:rPr lang="pt-BR" dirty="0" err="1"/>
              <a:t>fimpara</a:t>
            </a:r>
            <a:endParaRPr lang="pt-BR" dirty="0"/>
          </a:p>
          <a:p>
            <a:r>
              <a:rPr lang="pt-BR" b="1" dirty="0"/>
              <a:t>Saída:</a:t>
            </a:r>
          </a:p>
          <a:p>
            <a:pPr marL="0" indent="0">
              <a:buNone/>
            </a:pPr>
            <a:r>
              <a:rPr lang="pt-BR" dirty="0"/>
              <a:t>10, 9, 8, 7... até 1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Interrupção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Alguns algoritmos permitem </a:t>
            </a:r>
            <a:r>
              <a:rPr lang="pt-BR" b="1" dirty="0"/>
              <a:t>interromper o loop antes do final</a:t>
            </a:r>
            <a:r>
              <a:rPr lang="pt-BR" dirty="0"/>
              <a:t>.</a:t>
            </a:r>
          </a:p>
          <a:p>
            <a:r>
              <a:rPr lang="pt-BR" dirty="0"/>
              <a:t>Usa-se o comando </a:t>
            </a:r>
            <a:r>
              <a:rPr lang="pt-BR" b="1" dirty="0"/>
              <a:t>“saia” (break) </a:t>
            </a:r>
            <a:r>
              <a:rPr lang="pt-BR" dirty="0"/>
              <a:t>para encerrar prematuramente. </a:t>
            </a:r>
          </a:p>
          <a:p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para i de 1 ate 10 faca</a:t>
            </a:r>
          </a:p>
          <a:p>
            <a:pPr marL="0" indent="0">
              <a:buNone/>
            </a:pPr>
            <a:r>
              <a:rPr lang="pt-BR" dirty="0"/>
              <a:t>     		se i = 5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   			saia</a:t>
            </a:r>
          </a:p>
          <a:p>
            <a:pPr marL="0" indent="0">
              <a:buNone/>
            </a:pPr>
            <a:r>
              <a:rPr lang="pt-BR" dirty="0"/>
              <a:t>     	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escreva i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dirty="0"/>
              <a:t>Saída:</a:t>
            </a:r>
          </a:p>
          <a:p>
            <a:pPr marL="0" indent="0">
              <a:buNone/>
            </a:pPr>
            <a:r>
              <a:rPr lang="pt-BR" dirty="0"/>
              <a:t>1</a:t>
            </a:r>
          </a:p>
          <a:p>
            <a:pPr marL="0" indent="0">
              <a:buNone/>
            </a:pPr>
            <a:r>
              <a:rPr lang="pt-BR" dirty="0"/>
              <a:t>2</a:t>
            </a:r>
          </a:p>
          <a:p>
            <a:pPr marL="0" indent="0">
              <a:buNone/>
            </a:pPr>
            <a:r>
              <a:rPr lang="pt-BR" dirty="0"/>
              <a:t>3</a:t>
            </a:r>
          </a:p>
          <a:p>
            <a:pPr marL="0" indent="0">
              <a:buNone/>
            </a:pPr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Erros Comuns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Esquecer de atualizar a variável de controle (em enquanto).</a:t>
            </a:r>
          </a:p>
          <a:p>
            <a:r>
              <a:rPr lang="pt-BR" dirty="0"/>
              <a:t>Criar loops infinitos (condição nunca falsa).</a:t>
            </a:r>
          </a:p>
          <a:p>
            <a:r>
              <a:rPr lang="pt-BR" dirty="0"/>
              <a:t>Não usar </a:t>
            </a:r>
            <a:r>
              <a:rPr lang="pt-BR" b="1" dirty="0"/>
              <a:t>parênteses</a:t>
            </a:r>
            <a:r>
              <a:rPr lang="pt-BR" dirty="0"/>
              <a:t> em condições complexas.</a:t>
            </a:r>
          </a:p>
          <a:p>
            <a:r>
              <a:rPr lang="pt-BR" dirty="0"/>
              <a:t> Dica: Sempre garanta que o loop </a:t>
            </a:r>
            <a:r>
              <a:rPr lang="pt-BR" b="1" dirty="0"/>
              <a:t>tenha uma forma de terminar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538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algoritmo "tabuada"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leia numero</a:t>
            </a:r>
          </a:p>
          <a:p>
            <a:pPr marL="0" indent="0">
              <a:buNone/>
            </a:pPr>
            <a:r>
              <a:rPr lang="pt-BR" dirty="0"/>
              <a:t>  	para i de 1 ate 10 faca</a:t>
            </a:r>
          </a:p>
          <a:p>
            <a:pPr marL="0" indent="0">
              <a:buNone/>
            </a:pPr>
            <a:r>
              <a:rPr lang="pt-BR" dirty="0"/>
              <a:t>     		resultado ← numero * i</a:t>
            </a:r>
          </a:p>
          <a:p>
            <a:pPr marL="0" indent="0">
              <a:buNone/>
            </a:pPr>
            <a:r>
              <a:rPr lang="pt-BR" dirty="0"/>
              <a:t>     		escreva numero, "x", i, "=", resultado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b="1" dirty="0"/>
              <a:t>Saída (para número = 3):</a:t>
            </a:r>
          </a:p>
          <a:p>
            <a:pPr marL="0" indent="0">
              <a:buNone/>
            </a:pPr>
            <a:r>
              <a:rPr lang="pt-BR" dirty="0"/>
              <a:t>3 x 1 = 3</a:t>
            </a:r>
          </a:p>
          <a:p>
            <a:pPr marL="0" indent="0">
              <a:buNone/>
            </a:pPr>
            <a:r>
              <a:rPr lang="pt-BR" dirty="0"/>
              <a:t>3 x 2 = 6</a:t>
            </a:r>
          </a:p>
          <a:p>
            <a:pPr marL="0" indent="0">
              <a:buNone/>
            </a:pPr>
            <a:r>
              <a:rPr lang="pt-BR" dirty="0"/>
              <a:t>3 x 3 = 9</a:t>
            </a:r>
          </a:p>
          <a:p>
            <a:pPr marL="0" indent="0">
              <a:buNone/>
            </a:pPr>
            <a:r>
              <a:rPr lang="pt-BR" dirty="0"/>
              <a:t>…</a:t>
            </a:r>
          </a:p>
          <a:p>
            <a:pPr marL="0" indent="0">
              <a:buNone/>
            </a:pPr>
            <a:r>
              <a:rPr lang="pt-BR" dirty="0"/>
              <a:t>3 x 10 = 30</a:t>
            </a:r>
          </a:p>
        </p:txBody>
      </p:sp>
    </p:spTree>
    <p:extLst>
      <p:ext uri="{BB962C8B-B14F-4D97-AF65-F5344CB8AC3E}">
        <p14:creationId xmlns:p14="http://schemas.microsoft.com/office/powerpoint/2010/main" val="1939791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 de 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Use para → quando souber o número de repetições. </a:t>
            </a:r>
          </a:p>
          <a:p>
            <a:r>
              <a:rPr lang="pt-BR" dirty="0"/>
              <a:t>Use enquanto → quando depender de uma condição. </a:t>
            </a:r>
          </a:p>
          <a:p>
            <a:r>
              <a:rPr lang="pt-BR" dirty="0"/>
              <a:t>Use repita → quando precisar executar </a:t>
            </a:r>
            <a:r>
              <a:rPr lang="pt-BR" b="1" dirty="0"/>
              <a:t>pelo menos uma vez.</a:t>
            </a:r>
          </a:p>
        </p:txBody>
      </p:sp>
    </p:spTree>
    <p:extLst>
      <p:ext uri="{BB962C8B-B14F-4D97-AF65-F5344CB8AC3E}">
        <p14:creationId xmlns:p14="http://schemas.microsoft.com/office/powerpoint/2010/main" val="342271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9250-9E34-4757-9F7B-ACD516E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31854-FCBF-47B9-B0EA-1E5FBDCA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estruturas de repetição tornam os algoritmos </a:t>
            </a:r>
            <a:r>
              <a:rPr lang="pt-BR" b="1" dirty="0"/>
              <a:t>automatizados e eficientes</a:t>
            </a:r>
            <a:r>
              <a:rPr lang="pt-BR" dirty="0"/>
              <a:t>.</a:t>
            </a:r>
          </a:p>
          <a:p>
            <a:r>
              <a:rPr lang="pt-BR" dirty="0"/>
              <a:t>São fundamentais para criar </a:t>
            </a:r>
            <a:r>
              <a:rPr lang="pt-BR" b="1" dirty="0"/>
              <a:t>loops controlados e inteligentes</a:t>
            </a:r>
            <a:r>
              <a:rPr lang="pt-BR" dirty="0"/>
              <a:t>.</a:t>
            </a:r>
          </a:p>
          <a:p>
            <a:r>
              <a:rPr lang="pt-BR" dirty="0"/>
              <a:t>Preparação para a próxima etapa: </a:t>
            </a:r>
            <a:r>
              <a:rPr lang="pt-BR" b="1" dirty="0"/>
              <a:t>Vetores e Matrizes (</a:t>
            </a:r>
            <a:r>
              <a:rPr lang="pt-BR" b="1" dirty="0" err="1"/>
              <a:t>Arrays</a:t>
            </a:r>
            <a:r>
              <a:rPr lang="pt-BR" b="1" dirty="0"/>
              <a:t> </a:t>
            </a:r>
            <a:r>
              <a:rPr lang="pt-BR" b="1" dirty="0" err="1"/>
              <a:t>and</a:t>
            </a:r>
            <a:r>
              <a:rPr lang="pt-BR" b="1" dirty="0"/>
              <a:t> </a:t>
            </a:r>
            <a:r>
              <a:rPr lang="pt-BR" b="1" dirty="0" err="1"/>
              <a:t>Matrices</a:t>
            </a:r>
            <a:r>
              <a:rPr lang="pt-BR" b="1" dirty="0"/>
              <a:t>)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356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536</Words>
  <Application>Microsoft Office PowerPoint</Application>
  <PresentationFormat>Apresentação na tela (4:3)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Etapa 5 — Estruturas de Repetição (Loops)</vt:lpstr>
      <vt:lpstr>O que são Estruturas de Repetição?</vt:lpstr>
      <vt:lpstr>Tipos de Estruturas de Repetição</vt:lpstr>
      <vt:lpstr>Estrutura “Enquanto” (While Loop)</vt:lpstr>
      <vt:lpstr>Como Funciona o “Enquanto”</vt:lpstr>
      <vt:lpstr>Estrutura “Repita...até” (Do...Until Loop)</vt:lpstr>
      <vt:lpstr>Diferença Entre “Enquanto” e “Repita”</vt:lpstr>
      <vt:lpstr>Estrutura “Para” (For Loop)</vt:lpstr>
      <vt:lpstr>Como Funciona o “Para”</vt:lpstr>
      <vt:lpstr>Controle de Incremento (Step)</vt:lpstr>
      <vt:lpstr>Interrupção de Repetição</vt:lpstr>
      <vt:lpstr>Erros Comuns</vt:lpstr>
      <vt:lpstr>Exemplo Completo</vt:lpstr>
      <vt:lpstr>Dica de Lógica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40</cp:revision>
  <dcterms:created xsi:type="dcterms:W3CDTF">2013-01-27T09:14:16Z</dcterms:created>
  <dcterms:modified xsi:type="dcterms:W3CDTF">2025-11-06T05:39:26Z</dcterms:modified>
  <cp:category/>
</cp:coreProperties>
</file>