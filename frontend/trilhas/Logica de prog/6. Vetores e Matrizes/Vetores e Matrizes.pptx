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4" r:id="rId5"/>
    <p:sldId id="260" r:id="rId6"/>
    <p:sldId id="275" r:id="rId7"/>
    <p:sldId id="276" r:id="rId8"/>
    <p:sldId id="277" r:id="rId9"/>
    <p:sldId id="263" r:id="rId10"/>
    <p:sldId id="264" r:id="rId11"/>
    <p:sldId id="265" r:id="rId12"/>
    <p:sldId id="266" r:id="rId13"/>
    <p:sldId id="272" r:id="rId14"/>
    <p:sldId id="273" r:id="rId15"/>
    <p:sldId id="270" r:id="rId16"/>
    <p:sldId id="27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Etapa 6 — Vetores e Matrizes (</a:t>
            </a:r>
            <a:r>
              <a:rPr lang="pt-BR" dirty="0" err="1"/>
              <a:t>Arrays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Matrices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são Vetores e Matrizes?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b="1" dirty="0"/>
              <a:t>Vetores (</a:t>
            </a:r>
            <a:r>
              <a:rPr lang="pt-BR" sz="2400" b="1" dirty="0" err="1"/>
              <a:t>Arrays</a:t>
            </a:r>
            <a:r>
              <a:rPr lang="pt-BR" sz="2400" b="1" dirty="0"/>
              <a:t>) </a:t>
            </a:r>
            <a:r>
              <a:rPr lang="pt-BR" sz="2400" dirty="0"/>
              <a:t>e </a:t>
            </a:r>
            <a:r>
              <a:rPr lang="pt-BR" sz="2400" b="1" dirty="0"/>
              <a:t>Matrizes (</a:t>
            </a:r>
            <a:r>
              <a:rPr lang="pt-BR" sz="2400" b="1" dirty="0" err="1"/>
              <a:t>Matrices</a:t>
            </a:r>
            <a:r>
              <a:rPr lang="pt-BR" sz="2400" b="1" dirty="0"/>
              <a:t>) </a:t>
            </a:r>
            <a:r>
              <a:rPr lang="pt-BR" sz="2400" dirty="0"/>
              <a:t>são </a:t>
            </a:r>
            <a:r>
              <a:rPr lang="pt-BR" sz="2400" b="1" dirty="0"/>
              <a:t>estruturas de dados.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Permitem </a:t>
            </a:r>
            <a:r>
              <a:rPr lang="pt-BR" sz="2400" b="1" dirty="0"/>
              <a:t>armazenar vários valores </a:t>
            </a:r>
            <a:r>
              <a:rPr lang="pt-BR" sz="2400" dirty="0"/>
              <a:t>em uma mesma variável.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Facilitam o ac</a:t>
            </a:r>
            <a:r>
              <a:rPr lang="pt-BR" sz="2400" b="1" dirty="0"/>
              <a:t>esso e a manipulação de conjuntos de dados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Armazenar 10 notas de alunos em um vetor, em vez de 10 variáveis diferentes.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 Vetor (</a:t>
            </a:r>
            <a:r>
              <a:rPr lang="pt-BR" dirty="0" err="1"/>
              <a:t>Array</a:t>
            </a:r>
            <a:r>
              <a:rPr lang="pt-BR" dirty="0"/>
              <a:t>)?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dirty="0"/>
              <a:t>vetor</a:t>
            </a:r>
            <a:r>
              <a:rPr lang="pt-BR" dirty="0"/>
              <a:t> é uma </a:t>
            </a:r>
            <a:r>
              <a:rPr lang="pt-BR" b="1" dirty="0"/>
              <a:t>lista linear de elementos</a:t>
            </a:r>
            <a:r>
              <a:rPr lang="pt-BR" dirty="0"/>
              <a:t> do mesmo tipo.</a:t>
            </a:r>
          </a:p>
          <a:p>
            <a:r>
              <a:rPr lang="pt-BR" dirty="0"/>
              <a:t>Cada elemento é identificado por um </a:t>
            </a:r>
            <a:r>
              <a:rPr lang="pt-BR" b="1" dirty="0"/>
              <a:t>índice (index)</a:t>
            </a:r>
            <a:r>
              <a:rPr lang="pt-BR" dirty="0"/>
              <a:t>.</a:t>
            </a:r>
          </a:p>
          <a:p>
            <a:r>
              <a:rPr lang="pt-BR" dirty="0"/>
              <a:t>O </a:t>
            </a:r>
            <a:r>
              <a:rPr lang="pt-BR" b="1" dirty="0"/>
              <a:t>primeiro índice normalmente é 0 ou 1</a:t>
            </a:r>
            <a:r>
              <a:rPr lang="pt-BR" dirty="0"/>
              <a:t>, dependendo da linguagem.</a:t>
            </a:r>
          </a:p>
          <a:p>
            <a:r>
              <a:rPr lang="pt-BR" b="1" dirty="0"/>
              <a:t>Exemplo visual:</a:t>
            </a: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A477B35-2429-4D49-8EDF-4076637B6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566616"/>
              </p:ext>
            </p:extLst>
          </p:nvPr>
        </p:nvGraphicFramePr>
        <p:xfrm>
          <a:off x="457200" y="5396389"/>
          <a:ext cx="8229600" cy="731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5235113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375891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4629638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7170808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2687846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116080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Índice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55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7914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Declaração de Vetores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b="1" dirty="0"/>
              <a:t>Sintaxe genérica:</a:t>
            </a:r>
          </a:p>
          <a:p>
            <a:pPr marL="0" indent="0">
              <a:buNone/>
            </a:pPr>
            <a:r>
              <a:rPr lang="pt-BR" sz="2000" dirty="0"/>
              <a:t>declare notas[5] como real</a:t>
            </a:r>
          </a:p>
          <a:p>
            <a:r>
              <a:rPr lang="pt-BR" sz="2400" b="1" dirty="0"/>
              <a:t>Atribuição e acesso:</a:t>
            </a:r>
          </a:p>
          <a:p>
            <a:pPr marL="0" indent="0">
              <a:buNone/>
            </a:pPr>
            <a:r>
              <a:rPr lang="pt-BR" sz="2400" dirty="0"/>
              <a:t>notas[1] ← 8.5</a:t>
            </a:r>
          </a:p>
          <a:p>
            <a:pPr marL="0" indent="0">
              <a:buNone/>
            </a:pPr>
            <a:r>
              <a:rPr lang="pt-BR" sz="2400" dirty="0"/>
              <a:t>escreva notas[1]</a:t>
            </a:r>
          </a:p>
          <a:p>
            <a:r>
              <a:rPr lang="pt-BR" sz="2400" b="1" dirty="0"/>
              <a:t>Saída:</a:t>
            </a:r>
          </a:p>
          <a:p>
            <a:pPr marL="0" indent="0">
              <a:buNone/>
            </a:pPr>
            <a:r>
              <a:rPr lang="pt-BR" sz="2400" dirty="0"/>
              <a:t>8.5</a:t>
            </a:r>
          </a:p>
          <a:p>
            <a:r>
              <a:rPr lang="pt-BR" sz="2400" b="1" dirty="0"/>
              <a:t>Dica:</a:t>
            </a:r>
          </a:p>
          <a:p>
            <a:pPr marL="0" indent="0">
              <a:buNone/>
            </a:pPr>
            <a:r>
              <a:rPr lang="pt-BR" sz="2400" dirty="0"/>
              <a:t>Os colchetes [] indicam a posição do elemento dentro do vetor.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1409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Preenchendo um Vetor com Loop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para i de 1 ate 5 faca</a:t>
            </a:r>
          </a:p>
          <a:p>
            <a:pPr marL="0" indent="0">
              <a:buNone/>
            </a:pPr>
            <a:r>
              <a:rPr lang="pt-BR" sz="2400" dirty="0"/>
              <a:t>   	escreva "Digite a nota ", i, ":"</a:t>
            </a:r>
          </a:p>
          <a:p>
            <a:pPr marL="0" indent="0">
              <a:buNone/>
            </a:pPr>
            <a:r>
              <a:rPr lang="pt-BR" sz="2400" dirty="0"/>
              <a:t>   	leia notas[i]</a:t>
            </a:r>
          </a:p>
          <a:p>
            <a:pPr marL="0" indent="0">
              <a:buNone/>
            </a:pPr>
            <a:r>
              <a:rPr lang="pt-BR" sz="2400" dirty="0" err="1"/>
              <a:t>fimpara</a:t>
            </a:r>
            <a:endParaRPr lang="pt-BR" sz="2400" dirty="0"/>
          </a:p>
          <a:p>
            <a:r>
              <a:rPr lang="pt-BR" sz="2400" b="1" dirty="0"/>
              <a:t>Para exibir todas as notas:</a:t>
            </a:r>
          </a:p>
          <a:p>
            <a:pPr marL="0" indent="0">
              <a:buNone/>
            </a:pPr>
            <a:r>
              <a:rPr lang="pt-BR" sz="2400" dirty="0"/>
              <a:t>para i de 1 ate 5 faca</a:t>
            </a:r>
          </a:p>
          <a:p>
            <a:pPr marL="0" indent="0">
              <a:buNone/>
            </a:pPr>
            <a:r>
              <a:rPr lang="pt-BR" sz="2400" dirty="0"/>
              <a:t>   	escreva "Nota ", i, " = ", notas[i]</a:t>
            </a:r>
          </a:p>
          <a:p>
            <a:pPr marL="0" indent="0">
              <a:buNone/>
            </a:pPr>
            <a:r>
              <a:rPr lang="pt-BR" sz="2400" dirty="0" err="1"/>
              <a:t>fimpara</a:t>
            </a:r>
            <a:endParaRPr lang="pt-BR" sz="2400" dirty="0"/>
          </a:p>
          <a:p>
            <a:r>
              <a:rPr lang="pt-BR" sz="2400" b="1" dirty="0"/>
              <a:t>Uso comum:</a:t>
            </a:r>
          </a:p>
          <a:p>
            <a:pPr marL="0" indent="0">
              <a:buNone/>
            </a:pPr>
            <a:r>
              <a:rPr lang="pt-BR" sz="2400" dirty="0"/>
              <a:t>Percorrer vetores inteiros com loops (laços).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Comuns em Vetores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dirty="0"/>
              <a:t>Somar todos os elementos</a:t>
            </a:r>
          </a:p>
          <a:p>
            <a:r>
              <a:rPr lang="pt-BR" sz="2400" dirty="0"/>
              <a:t>Calcular média</a:t>
            </a:r>
          </a:p>
          <a:p>
            <a:r>
              <a:rPr lang="pt-BR" sz="2400" dirty="0"/>
              <a:t>Encontrar o maior ou menor valor</a:t>
            </a:r>
          </a:p>
          <a:p>
            <a:r>
              <a:rPr lang="pt-BR" sz="2400" b="1" dirty="0"/>
              <a:t>Exemplo:</a:t>
            </a:r>
          </a:p>
          <a:p>
            <a:pPr marL="0" indent="0">
              <a:buNone/>
            </a:pPr>
            <a:r>
              <a:rPr lang="pt-BR" sz="2400" dirty="0"/>
              <a:t>soma ← 0</a:t>
            </a:r>
          </a:p>
          <a:p>
            <a:pPr marL="0" indent="0">
              <a:buNone/>
            </a:pPr>
            <a:r>
              <a:rPr lang="pt-BR" sz="2400" dirty="0"/>
              <a:t>para i de 1 ate 5 faca</a:t>
            </a:r>
          </a:p>
          <a:p>
            <a:pPr marL="0" indent="0">
              <a:buNone/>
            </a:pPr>
            <a:r>
              <a:rPr lang="pt-BR" sz="2400" dirty="0"/>
              <a:t>   	soma ← soma + notas[i]</a:t>
            </a:r>
          </a:p>
          <a:p>
            <a:pPr marL="0" indent="0">
              <a:buNone/>
            </a:pPr>
            <a:r>
              <a:rPr lang="pt-BR" sz="2400" dirty="0" err="1"/>
              <a:t>fimpara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media ← soma / 5</a:t>
            </a:r>
          </a:p>
          <a:p>
            <a:pPr marL="0" indent="0">
              <a:buNone/>
            </a:pPr>
            <a:r>
              <a:rPr lang="pt-BR" sz="2400" dirty="0"/>
              <a:t>escreva "Média = ", media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3109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uma Matriz (Matrix)?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dirty="0"/>
              <a:t>Uma </a:t>
            </a:r>
            <a:r>
              <a:rPr lang="pt-BR" sz="2400" b="1" dirty="0"/>
              <a:t>matriz</a:t>
            </a:r>
            <a:r>
              <a:rPr lang="pt-BR" sz="2400" dirty="0"/>
              <a:t> é uma </a:t>
            </a:r>
            <a:r>
              <a:rPr lang="pt-BR" sz="2400" b="1" dirty="0"/>
              <a:t>tabela bidimensional (duas dimensões)</a:t>
            </a:r>
            <a:r>
              <a:rPr lang="pt-BR" sz="2400" dirty="0"/>
              <a:t>.</a:t>
            </a:r>
          </a:p>
          <a:p>
            <a:r>
              <a:rPr lang="pt-BR" sz="2400" dirty="0"/>
              <a:t>Possui </a:t>
            </a:r>
            <a:r>
              <a:rPr lang="pt-BR" sz="2400" b="1" dirty="0"/>
              <a:t>linhas (</a:t>
            </a:r>
            <a:r>
              <a:rPr lang="pt-BR" sz="2400" b="1" dirty="0" err="1"/>
              <a:t>rows</a:t>
            </a:r>
            <a:r>
              <a:rPr lang="pt-BR" sz="2400" b="1" dirty="0"/>
              <a:t>) </a:t>
            </a:r>
            <a:r>
              <a:rPr lang="pt-BR" sz="2400" dirty="0"/>
              <a:t>e </a:t>
            </a:r>
            <a:r>
              <a:rPr lang="pt-BR" sz="2400" b="1" dirty="0"/>
              <a:t>colunas (</a:t>
            </a:r>
            <a:r>
              <a:rPr lang="pt-BR" sz="2400" b="1" dirty="0" err="1"/>
              <a:t>columns</a:t>
            </a:r>
            <a:r>
              <a:rPr lang="pt-BR" sz="2400" b="1" dirty="0"/>
              <a:t>)</a:t>
            </a:r>
            <a:r>
              <a:rPr lang="pt-BR" sz="2400" dirty="0"/>
              <a:t>.</a:t>
            </a:r>
          </a:p>
          <a:p>
            <a:r>
              <a:rPr lang="pt-BR" sz="2400" dirty="0"/>
              <a:t>Cada elemento é identificado por </a:t>
            </a:r>
            <a:r>
              <a:rPr lang="pt-BR" sz="2400" b="1" dirty="0"/>
              <a:t>dois índices</a:t>
            </a:r>
            <a:r>
              <a:rPr lang="pt-BR" sz="2400" dirty="0"/>
              <a:t>.</a:t>
            </a:r>
          </a:p>
          <a:p>
            <a:r>
              <a:rPr lang="pt-BR" sz="2400" b="1" dirty="0"/>
              <a:t>Exemplo visual: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2D3A849-2C36-4830-BA0C-E2C9BAFBC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509135"/>
              </p:ext>
            </p:extLst>
          </p:nvPr>
        </p:nvGraphicFramePr>
        <p:xfrm>
          <a:off x="457200" y="3429000"/>
          <a:ext cx="8229600" cy="10972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73473078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849527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8434473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95437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Coluna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Coluna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Coluna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924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Linha 1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2601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Linha 2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7242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89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Declaração de Matrizes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Sintaxe genérica:</a:t>
            </a:r>
          </a:p>
          <a:p>
            <a:pPr marL="0" indent="0">
              <a:buNone/>
            </a:pPr>
            <a:r>
              <a:rPr lang="pt-BR" sz="2400" dirty="0"/>
              <a:t>declare matriz[2][3] como inteiro</a:t>
            </a:r>
          </a:p>
          <a:p>
            <a:r>
              <a:rPr lang="pt-BR" sz="2400" b="1" dirty="0"/>
              <a:t>Atribuição e acesso:</a:t>
            </a:r>
          </a:p>
          <a:p>
            <a:pPr marL="0" indent="0">
              <a:buNone/>
            </a:pPr>
            <a:r>
              <a:rPr lang="pt-BR" sz="2400" dirty="0"/>
              <a:t>matriz[1][2] ← 8</a:t>
            </a:r>
          </a:p>
          <a:p>
            <a:pPr marL="0" indent="0">
              <a:buNone/>
            </a:pPr>
            <a:r>
              <a:rPr lang="pt-BR" sz="2400" dirty="0"/>
              <a:t>escreva matriz[1][2]</a:t>
            </a:r>
          </a:p>
          <a:p>
            <a:r>
              <a:rPr lang="pt-BR" sz="2400" b="1" dirty="0"/>
              <a:t>Saída:</a:t>
            </a:r>
          </a:p>
          <a:p>
            <a:pPr marL="0" indent="0">
              <a:buNone/>
            </a:pPr>
            <a:r>
              <a:rPr lang="pt-BR" sz="2400" dirty="0"/>
              <a:t>8 </a:t>
            </a:r>
          </a:p>
          <a:p>
            <a:r>
              <a:rPr lang="pt-BR" sz="2400" b="1" dirty="0"/>
              <a:t>Dica:</a:t>
            </a:r>
          </a:p>
          <a:p>
            <a:pPr marL="0" indent="0">
              <a:buNone/>
            </a:pPr>
            <a:r>
              <a:rPr lang="pt-BR" sz="2400" dirty="0"/>
              <a:t>O primeiro índice é a </a:t>
            </a:r>
            <a:r>
              <a:rPr lang="pt-BR" sz="2400" b="1" dirty="0"/>
              <a:t>linha</a:t>
            </a:r>
            <a:r>
              <a:rPr lang="pt-BR" sz="2400" dirty="0"/>
              <a:t>, o segundo é a </a:t>
            </a:r>
            <a:r>
              <a:rPr lang="pt-BR" sz="2400" b="1" dirty="0"/>
              <a:t>coluna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676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Preenchendo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para i de 1 ate 2 faca</a:t>
            </a:r>
          </a:p>
          <a:p>
            <a:pPr marL="0" indent="0">
              <a:buNone/>
            </a:pPr>
            <a:r>
              <a:rPr lang="pt-BR" dirty="0"/>
              <a:t>   	para j de 1 ate 3 faca</a:t>
            </a:r>
          </a:p>
          <a:p>
            <a:pPr marL="0" indent="0">
              <a:buNone/>
            </a:pPr>
            <a:r>
              <a:rPr lang="pt-BR" dirty="0"/>
              <a:t>      		escreva "Digite o valor [", i, ",", j, "]:"</a:t>
            </a:r>
          </a:p>
          <a:p>
            <a:pPr marL="0" indent="0">
              <a:buNone/>
            </a:pPr>
            <a:r>
              <a:rPr lang="pt-BR" dirty="0"/>
              <a:t>      		leia matriz[i][j]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fimpara</a:t>
            </a:r>
            <a:endParaRPr lang="pt-BR" dirty="0"/>
          </a:p>
          <a:p>
            <a:r>
              <a:rPr lang="pt-BR" b="1" dirty="0"/>
              <a:t>Exibir matriz:</a:t>
            </a:r>
          </a:p>
          <a:p>
            <a:pPr marL="0" indent="0">
              <a:buNone/>
            </a:pPr>
            <a:r>
              <a:rPr lang="pt-BR" dirty="0"/>
              <a:t>para i de 1 ate 2 faca</a:t>
            </a:r>
          </a:p>
          <a:p>
            <a:pPr marL="0" indent="0">
              <a:buNone/>
            </a:pPr>
            <a:r>
              <a:rPr lang="pt-BR" dirty="0"/>
              <a:t>   	para j de 1 ate 3 faca</a:t>
            </a:r>
          </a:p>
          <a:p>
            <a:pPr marL="0" indent="0">
              <a:buNone/>
            </a:pPr>
            <a:r>
              <a:rPr lang="pt-BR" dirty="0"/>
              <a:t>      		escreva matriz[i][j], " "</a:t>
            </a:r>
          </a:p>
          <a:p>
            <a:pPr marL="0" indent="0">
              <a:buNone/>
            </a:pPr>
            <a:r>
              <a:rPr lang="pt-BR" dirty="0"/>
              <a:t> 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	escreva ""</a:t>
            </a:r>
          </a:p>
          <a:p>
            <a:pPr marL="0" indent="0">
              <a:buNone/>
            </a:pPr>
            <a:r>
              <a:rPr lang="pt-BR" dirty="0" err="1"/>
              <a:t>fimpara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Tabelas e planilhas.</a:t>
            </a:r>
          </a:p>
          <a:p>
            <a:r>
              <a:rPr lang="pt-BR" dirty="0"/>
              <a:t>Representação de notas por aluno e disciplina.</a:t>
            </a:r>
          </a:p>
          <a:p>
            <a:r>
              <a:rPr lang="pt-BR" dirty="0"/>
              <a:t>Mapas e grades em jogos.</a:t>
            </a:r>
          </a:p>
          <a:p>
            <a:r>
              <a:rPr lang="pt-BR" dirty="0"/>
              <a:t>Processamento de imagens e cálculos matemáticos.</a:t>
            </a:r>
          </a:p>
          <a:p>
            <a:r>
              <a:rPr lang="pt-BR" dirty="0"/>
              <a:t>Dica:</a:t>
            </a:r>
          </a:p>
          <a:p>
            <a:pPr marL="0" indent="0">
              <a:buNone/>
            </a:pPr>
            <a:r>
              <a:rPr lang="pt-BR" dirty="0"/>
              <a:t>Matrizes são </a:t>
            </a:r>
            <a:r>
              <a:rPr lang="pt-BR" b="1" dirty="0"/>
              <a:t>a</a:t>
            </a:r>
            <a:r>
              <a:rPr lang="pt-BR" dirty="0"/>
              <a:t> </a:t>
            </a:r>
            <a:r>
              <a:rPr lang="pt-BR" b="1" dirty="0"/>
              <a:t>base</a:t>
            </a:r>
            <a:r>
              <a:rPr lang="pt-BR" dirty="0"/>
              <a:t> para estruturas mais complexas como </a:t>
            </a:r>
            <a:r>
              <a:rPr lang="pt-BR" b="1" dirty="0"/>
              <a:t>matrizes tridimensionais e vetores de vetores</a:t>
            </a:r>
            <a:r>
              <a:rPr lang="pt-BR" dirty="0"/>
              <a:t>.</a:t>
            </a:r>
            <a:endParaRPr lang="pt-BR" b="1" dirty="0"/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Prático: Soma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Algoritmo:</a:t>
            </a:r>
          </a:p>
          <a:p>
            <a:pPr marL="0" indent="0">
              <a:buNone/>
            </a:pPr>
            <a:r>
              <a:rPr lang="pt-BR" dirty="0"/>
              <a:t>declare A[2][2], B[2][2], C[2][2] como inteiro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para i de 1 ate 2 faca</a:t>
            </a:r>
          </a:p>
          <a:p>
            <a:pPr marL="0" indent="0">
              <a:buNone/>
            </a:pPr>
            <a:r>
              <a:rPr lang="pt-BR" dirty="0"/>
              <a:t>   	para j de 1 ate 2 faca</a:t>
            </a:r>
          </a:p>
          <a:p>
            <a:pPr marL="0" indent="0">
              <a:buNone/>
            </a:pPr>
            <a:r>
              <a:rPr lang="pt-BR" dirty="0"/>
              <a:t>      		C[i][j] ← A[i][j] + B[i][j]</a:t>
            </a:r>
          </a:p>
          <a:p>
            <a:pPr marL="0" indent="0">
              <a:buNone/>
            </a:pPr>
            <a:r>
              <a:rPr lang="pt-BR" dirty="0"/>
              <a:t> 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fimpara</a:t>
            </a:r>
            <a:endParaRPr lang="pt-BR" dirty="0"/>
          </a:p>
          <a:p>
            <a:r>
              <a:rPr lang="pt-BR" b="1" dirty="0"/>
              <a:t>Resultado:</a:t>
            </a:r>
          </a:p>
          <a:p>
            <a:pPr marL="0" indent="0">
              <a:buNone/>
            </a:pPr>
            <a:r>
              <a:rPr lang="pt-BR" dirty="0"/>
              <a:t>C contém a soma elemento a elemento das matrizes A e B.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Vetor e Matriz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71775"/>
            <a:ext cx="8229600" cy="4525963"/>
          </a:xfrm>
        </p:spPr>
        <p:txBody>
          <a:bodyPr/>
          <a:lstStyle/>
          <a:p>
            <a:r>
              <a:rPr lang="pt-BR" b="1" dirty="0"/>
              <a:t>Dica:</a:t>
            </a:r>
          </a:p>
          <a:p>
            <a:pPr marL="0" indent="0">
              <a:buNone/>
            </a:pPr>
            <a:r>
              <a:rPr lang="pt-BR" dirty="0"/>
              <a:t>Pense no vetor como uma </a:t>
            </a:r>
            <a:r>
              <a:rPr lang="pt-BR" b="1" dirty="0"/>
              <a:t>linha</a:t>
            </a:r>
            <a:r>
              <a:rPr lang="pt-BR" dirty="0"/>
              <a:t> e na matriz como uma </a:t>
            </a:r>
            <a:r>
              <a:rPr lang="pt-BR" b="1" dirty="0"/>
              <a:t>tabela</a:t>
            </a:r>
            <a:r>
              <a:rPr lang="pt-BR" dirty="0"/>
              <a:t>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E3C2191-9D52-4A17-B414-F2772837B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996282"/>
              </p:ext>
            </p:extLst>
          </p:nvPr>
        </p:nvGraphicFramePr>
        <p:xfrm>
          <a:off x="457200" y="1546066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1156989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930665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25347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Estrutura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Dimensões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Exemplo de acesso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93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Vetor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1D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notas[3]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45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Matriz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matriz[2][3]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29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38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Erros Comuns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Usar índices fora do limite (</a:t>
            </a:r>
            <a:r>
              <a:rPr lang="pt-BR" dirty="0" err="1"/>
              <a:t>ex</a:t>
            </a:r>
            <a:r>
              <a:rPr lang="pt-BR" dirty="0"/>
              <a:t>: acessar notas[6] em vetor[5]).</a:t>
            </a:r>
          </a:p>
          <a:p>
            <a:r>
              <a:rPr lang="pt-BR" dirty="0"/>
              <a:t>Confundir linha e coluna.</a:t>
            </a:r>
          </a:p>
          <a:p>
            <a:r>
              <a:rPr lang="pt-BR" dirty="0"/>
              <a:t>Não inicializar os elementos antes de usar.</a:t>
            </a:r>
          </a:p>
          <a:p>
            <a:r>
              <a:rPr lang="pt-BR" dirty="0"/>
              <a:t>Sempre </a:t>
            </a:r>
            <a:r>
              <a:rPr lang="pt-BR" b="1" dirty="0"/>
              <a:t>defina o tamanho corretamente</a:t>
            </a:r>
            <a:r>
              <a:rPr lang="pt-BR" dirty="0"/>
              <a:t> e </a:t>
            </a:r>
            <a:r>
              <a:rPr lang="pt-BR" b="1" dirty="0"/>
              <a:t>teste os índices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3979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/>
              <a:t>algoritmo "</a:t>
            </a:r>
            <a:r>
              <a:rPr lang="pt-BR" sz="1600" dirty="0" err="1"/>
              <a:t>notas_alunos</a:t>
            </a:r>
            <a:r>
              <a:rPr lang="pt-BR" sz="1600" dirty="0"/>
              <a:t>"</a:t>
            </a:r>
          </a:p>
          <a:p>
            <a:pPr marL="0" indent="0">
              <a:buNone/>
            </a:pPr>
            <a:r>
              <a:rPr lang="pt-BR" sz="1600" dirty="0"/>
              <a:t>inicio</a:t>
            </a:r>
          </a:p>
          <a:p>
            <a:pPr marL="0" indent="0">
              <a:buNone/>
            </a:pPr>
            <a:r>
              <a:rPr lang="pt-BR" sz="1600" dirty="0"/>
              <a:t>  	declare notas[5] como real</a:t>
            </a:r>
          </a:p>
          <a:p>
            <a:pPr marL="0" indent="0">
              <a:buNone/>
            </a:pPr>
            <a:r>
              <a:rPr lang="pt-BR" sz="1600" dirty="0"/>
              <a:t>  	para i de 1 ate 5 faca</a:t>
            </a:r>
          </a:p>
          <a:p>
            <a:pPr marL="0" indent="0">
              <a:buNone/>
            </a:pPr>
            <a:r>
              <a:rPr lang="pt-BR" sz="1600" dirty="0"/>
              <a:t>     		escreva "Digite a nota ", i, ":"</a:t>
            </a:r>
          </a:p>
          <a:p>
            <a:pPr marL="0" indent="0">
              <a:buNone/>
            </a:pPr>
            <a:r>
              <a:rPr lang="pt-BR" sz="1600" dirty="0"/>
              <a:t>     		leia notas[i]</a:t>
            </a:r>
          </a:p>
          <a:p>
            <a:pPr marL="0" indent="0">
              <a:buNone/>
            </a:pPr>
            <a:r>
              <a:rPr lang="pt-BR" sz="1600" dirty="0"/>
              <a:t>  	</a:t>
            </a:r>
            <a:r>
              <a:rPr lang="pt-BR" sz="1600" dirty="0" err="1"/>
              <a:t>fimpara</a:t>
            </a:r>
            <a:endParaRPr lang="pt-BR" sz="1600" dirty="0"/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  	soma ← 0</a:t>
            </a:r>
          </a:p>
          <a:p>
            <a:pPr marL="0" indent="0">
              <a:buNone/>
            </a:pPr>
            <a:r>
              <a:rPr lang="pt-BR" sz="1600" dirty="0"/>
              <a:t>  	para i de 1 ate 5 faca</a:t>
            </a:r>
          </a:p>
          <a:p>
            <a:pPr marL="0" indent="0">
              <a:buNone/>
            </a:pPr>
            <a:r>
              <a:rPr lang="pt-BR" sz="1600" dirty="0"/>
              <a:t>     		soma ← soma + notas[i]</a:t>
            </a:r>
          </a:p>
          <a:p>
            <a:pPr marL="0" indent="0">
              <a:buNone/>
            </a:pPr>
            <a:r>
              <a:rPr lang="pt-BR" sz="1600" dirty="0"/>
              <a:t>  	</a:t>
            </a:r>
            <a:r>
              <a:rPr lang="pt-BR" sz="1600" dirty="0" err="1"/>
              <a:t>fimpara</a:t>
            </a:r>
            <a:endParaRPr lang="pt-BR" sz="1600" dirty="0"/>
          </a:p>
          <a:p>
            <a:pPr marL="0" indent="0">
              <a:buNone/>
            </a:pPr>
            <a:r>
              <a:rPr lang="pt-BR" sz="1600" dirty="0"/>
              <a:t>  	media ← soma / 5</a:t>
            </a:r>
          </a:p>
          <a:p>
            <a:pPr marL="0" indent="0">
              <a:buNone/>
            </a:pPr>
            <a:r>
              <a:rPr lang="pt-BR" sz="1600" dirty="0"/>
              <a:t>  	escreva "Média = ", media</a:t>
            </a:r>
          </a:p>
          <a:p>
            <a:pPr marL="0" indent="0">
              <a:buNone/>
            </a:pPr>
            <a:r>
              <a:rPr lang="pt-BR" sz="1600" dirty="0"/>
              <a:t>fim</a:t>
            </a:r>
          </a:p>
          <a:p>
            <a:r>
              <a:rPr lang="pt-BR" sz="1600" b="1" dirty="0"/>
              <a:t>Saída:</a:t>
            </a:r>
          </a:p>
          <a:p>
            <a:pPr marL="0" indent="0">
              <a:buNone/>
            </a:pPr>
            <a:r>
              <a:rPr lang="pt-BR" sz="1600" dirty="0"/>
              <a:t>Média = 8.2 (exemplo)</a:t>
            </a:r>
          </a:p>
        </p:txBody>
      </p:sp>
    </p:spTree>
    <p:extLst>
      <p:ext uri="{BB962C8B-B14F-4D97-AF65-F5344CB8AC3E}">
        <p14:creationId xmlns:p14="http://schemas.microsoft.com/office/powerpoint/2010/main" val="342271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 de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Use vetores para listas simples.</a:t>
            </a:r>
          </a:p>
          <a:p>
            <a:r>
              <a:rPr lang="pt-BR" dirty="0"/>
              <a:t>Use matrizes para tabelas.</a:t>
            </a:r>
          </a:p>
          <a:p>
            <a:r>
              <a:rPr lang="pt-BR" dirty="0"/>
              <a:t>Use loops aninhados para percorrer estruturas bidimensionais.</a:t>
            </a:r>
          </a:p>
          <a:p>
            <a:pPr marL="0" indent="0">
              <a:buNone/>
            </a:pPr>
            <a:r>
              <a:rPr lang="pt-BR" dirty="0"/>
              <a:t>“Dominar vetores e matrizes é o primeiro passo para entender estruturas de dados mais avançadas.”</a:t>
            </a:r>
          </a:p>
        </p:txBody>
      </p:sp>
    </p:spTree>
    <p:extLst>
      <p:ext uri="{BB962C8B-B14F-4D97-AF65-F5344CB8AC3E}">
        <p14:creationId xmlns:p14="http://schemas.microsoft.com/office/powerpoint/2010/main" val="98356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Vetores (</a:t>
            </a:r>
            <a:r>
              <a:rPr lang="pt-BR" b="1" dirty="0" err="1"/>
              <a:t>Arrays</a:t>
            </a:r>
            <a:r>
              <a:rPr lang="pt-BR" b="1" dirty="0"/>
              <a:t>) </a:t>
            </a:r>
            <a:r>
              <a:rPr lang="pt-BR" dirty="0"/>
              <a:t>e </a:t>
            </a:r>
            <a:r>
              <a:rPr lang="pt-BR" b="1" dirty="0"/>
              <a:t>Matrizes (</a:t>
            </a:r>
            <a:r>
              <a:rPr lang="pt-BR" b="1" dirty="0" err="1"/>
              <a:t>Matrices</a:t>
            </a:r>
            <a:r>
              <a:rPr lang="pt-BR" b="1" dirty="0"/>
              <a:t>) </a:t>
            </a:r>
            <a:r>
              <a:rPr lang="pt-BR" dirty="0"/>
              <a:t>permitem </a:t>
            </a:r>
            <a:r>
              <a:rPr lang="pt-BR" b="1" dirty="0"/>
              <a:t>armazenar e manipular múltiplos valores </a:t>
            </a:r>
            <a:r>
              <a:rPr lang="pt-BR" dirty="0"/>
              <a:t>de forma organizada.</a:t>
            </a:r>
          </a:p>
          <a:p>
            <a:r>
              <a:rPr lang="pt-BR" dirty="0"/>
              <a:t>O uso dessas estruturas reduz </a:t>
            </a:r>
            <a:r>
              <a:rPr lang="pt-BR" b="1" dirty="0"/>
              <a:t>o número de variáveis </a:t>
            </a:r>
            <a:r>
              <a:rPr lang="pt-BR" dirty="0"/>
              <a:t>e </a:t>
            </a:r>
            <a:r>
              <a:rPr lang="pt-BR" b="1" dirty="0"/>
              <a:t>simplifica o código</a:t>
            </a:r>
            <a:r>
              <a:rPr lang="pt-BR" dirty="0"/>
              <a:t>.</a:t>
            </a:r>
          </a:p>
          <a:p>
            <a:r>
              <a:rPr lang="pt-BR" dirty="0"/>
              <a:t>São a </a:t>
            </a:r>
            <a:r>
              <a:rPr lang="pt-BR" b="1" dirty="0"/>
              <a:t>base para estruturas mais complexas</a:t>
            </a:r>
            <a:r>
              <a:rPr lang="pt-BR" dirty="0"/>
              <a:t>, como listas, filas e árvores.</a:t>
            </a:r>
          </a:p>
          <a:p>
            <a:r>
              <a:rPr lang="pt-BR" dirty="0"/>
              <a:t>Entender como percorrer vetores e matrizes com </a:t>
            </a:r>
            <a:r>
              <a:rPr lang="pt-BR" b="1" dirty="0"/>
              <a:t>loops (for / </a:t>
            </a:r>
            <a:r>
              <a:rPr lang="pt-BR" b="1" dirty="0" err="1"/>
              <a:t>while</a:t>
            </a:r>
            <a:r>
              <a:rPr lang="pt-BR" b="1" dirty="0"/>
              <a:t>)</a:t>
            </a:r>
            <a:r>
              <a:rPr lang="pt-BR" dirty="0"/>
              <a:t> é essencial para resolver problemas mais avançados. </a:t>
            </a:r>
          </a:p>
          <a:p>
            <a:r>
              <a:rPr lang="pt-BR" dirty="0"/>
              <a:t>Resumo essencial:</a:t>
            </a:r>
          </a:p>
          <a:p>
            <a:pPr marL="0" indent="0">
              <a:buNone/>
            </a:pPr>
            <a:r>
              <a:rPr lang="pt-BR" dirty="0"/>
              <a:t>“Vetores e matrizes são a ponte entre a lógica básica e a programação estruturada.”</a:t>
            </a:r>
          </a:p>
        </p:txBody>
      </p:sp>
    </p:spTree>
    <p:extLst>
      <p:ext uri="{BB962C8B-B14F-4D97-AF65-F5344CB8AC3E}">
        <p14:creationId xmlns:p14="http://schemas.microsoft.com/office/powerpoint/2010/main" val="1564735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644</Words>
  <Application>Microsoft Office PowerPoint</Application>
  <PresentationFormat>Apresentação na tela (4:3)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Etapa 6 — Vetores e Matrizes (Arrays and Matrices)</vt:lpstr>
      <vt:lpstr>O que são Vetores e Matrizes?</vt:lpstr>
      <vt:lpstr>O que é um Vetor (Array)?</vt:lpstr>
      <vt:lpstr>Declaração de Vetores</vt:lpstr>
      <vt:lpstr>Preenchendo um Vetor com Loop</vt:lpstr>
      <vt:lpstr>Operações Comuns em Vetores</vt:lpstr>
      <vt:lpstr>O que é uma Matriz (Matrix)?</vt:lpstr>
      <vt:lpstr>Declaração de Matrizes</vt:lpstr>
      <vt:lpstr>Preenchendo Matrizes</vt:lpstr>
      <vt:lpstr>Aplicações de Matrizes</vt:lpstr>
      <vt:lpstr>Exemplo Prático: Soma de Matrizes</vt:lpstr>
      <vt:lpstr>Diferença Entre Vetor e Matriz</vt:lpstr>
      <vt:lpstr>Erros Comuns</vt:lpstr>
      <vt:lpstr>Exemplo Completo</vt:lpstr>
      <vt:lpstr>Dica de Lógica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51</cp:revision>
  <dcterms:created xsi:type="dcterms:W3CDTF">2013-01-27T09:14:16Z</dcterms:created>
  <dcterms:modified xsi:type="dcterms:W3CDTF">2025-11-06T18:29:32Z</dcterms:modified>
  <cp:category/>
</cp:coreProperties>
</file>