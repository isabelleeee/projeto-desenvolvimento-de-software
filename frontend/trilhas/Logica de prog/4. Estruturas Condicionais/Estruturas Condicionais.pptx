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0" r:id="rId6"/>
    <p:sldId id="268" r:id="rId7"/>
    <p:sldId id="269" r:id="rId8"/>
    <p:sldId id="263" r:id="rId9"/>
    <p:sldId id="264" r:id="rId10"/>
    <p:sldId id="265" r:id="rId11"/>
    <p:sldId id="266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7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8329-A266-43EE-AEB3-4C153EED7A33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ABD9-DD46-4ED5-A0D7-D1D843D8C1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Etapa 4 — Estruturas Condicionais (</a:t>
            </a:r>
            <a:r>
              <a:rPr lang="pt-BR" dirty="0" err="1"/>
              <a:t>Conditional</a:t>
            </a:r>
            <a:r>
              <a:rPr lang="pt-BR" dirty="0"/>
              <a:t> </a:t>
            </a:r>
            <a:r>
              <a:rPr lang="pt-BR" dirty="0" err="1"/>
              <a:t>Structures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são Estruturas Condicionais?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Permitem tomar decisões dentro de um algoritmo.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Fazem com que o programa </a:t>
            </a:r>
            <a:r>
              <a:rPr lang="pt-BR" sz="2400" b="1" dirty="0"/>
              <a:t>escolha caminhos diferentes </a:t>
            </a:r>
            <a:r>
              <a:rPr lang="pt-BR" sz="2400" dirty="0"/>
              <a:t>conforme condições sejam </a:t>
            </a:r>
            <a:r>
              <a:rPr lang="pt-BR" sz="2400" b="1" dirty="0"/>
              <a:t>verdadeiras (</a:t>
            </a:r>
            <a:r>
              <a:rPr lang="pt-BR" sz="2400" b="1" dirty="0" err="1"/>
              <a:t>true</a:t>
            </a:r>
            <a:r>
              <a:rPr lang="pt-BR" sz="2400" b="1" dirty="0"/>
              <a:t>) </a:t>
            </a:r>
            <a:r>
              <a:rPr lang="pt-BR" sz="2400" dirty="0"/>
              <a:t>ou </a:t>
            </a:r>
            <a:r>
              <a:rPr lang="pt-BR" sz="2400" b="1" dirty="0"/>
              <a:t>falsas (false)</a:t>
            </a:r>
            <a:r>
              <a:rPr lang="pt-B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São essenciais para que o programa </a:t>
            </a:r>
            <a:r>
              <a:rPr lang="pt-BR" sz="2400" b="1" dirty="0"/>
              <a:t>“pense” e reaja </a:t>
            </a:r>
            <a:r>
              <a:rPr lang="pt-BR" sz="2400" dirty="0"/>
              <a:t>a diferentes situações.</a:t>
            </a:r>
          </a:p>
          <a:p>
            <a:pPr marL="0" indent="0">
              <a:buNone/>
            </a:pPr>
            <a:r>
              <a:rPr lang="pt-BR" sz="2400" b="1" dirty="0"/>
              <a:t>Exemplo prático:</a:t>
            </a:r>
          </a:p>
          <a:p>
            <a:pPr lvl="1"/>
            <a:r>
              <a:rPr lang="pt-BR" sz="2000" dirty="0"/>
              <a:t>Se o usuário digitar uma senha incorreta, o sistema exibe “Acesso negado”.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de Estruturas Condicionais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b="1" dirty="0"/>
              <a:t>Simples (</a:t>
            </a:r>
            <a:r>
              <a:rPr lang="pt-BR" b="1" dirty="0" err="1"/>
              <a:t>Simple</a:t>
            </a:r>
            <a:r>
              <a:rPr lang="pt-BR" b="1" dirty="0"/>
              <a:t> </a:t>
            </a:r>
            <a:r>
              <a:rPr lang="pt-BR" b="1" dirty="0" err="1"/>
              <a:t>Condition</a:t>
            </a:r>
            <a:r>
              <a:rPr lang="pt-BR" b="1" dirty="0"/>
              <a:t>) </a:t>
            </a:r>
            <a:r>
              <a:rPr lang="pt-BR" dirty="0"/>
              <a:t>— executa algo </a:t>
            </a:r>
            <a:r>
              <a:rPr lang="pt-BR" b="1" dirty="0"/>
              <a:t>apenas se</a:t>
            </a:r>
            <a:r>
              <a:rPr lang="pt-BR" dirty="0"/>
              <a:t> a condição for verdadeira.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Composta (</a:t>
            </a:r>
            <a:r>
              <a:rPr lang="pt-BR" b="1" dirty="0" err="1"/>
              <a:t>Composite</a:t>
            </a:r>
            <a:r>
              <a:rPr lang="pt-BR" b="1" dirty="0"/>
              <a:t> </a:t>
            </a:r>
            <a:r>
              <a:rPr lang="pt-BR" b="1" dirty="0" err="1"/>
              <a:t>Condition</a:t>
            </a:r>
            <a:r>
              <a:rPr lang="pt-BR" b="1" dirty="0"/>
              <a:t>) </a:t>
            </a:r>
            <a:r>
              <a:rPr lang="pt-BR" dirty="0"/>
              <a:t>— executa uma ação </a:t>
            </a:r>
            <a:r>
              <a:rPr lang="pt-BR" b="1" dirty="0"/>
              <a:t>se for verdadeiro </a:t>
            </a:r>
            <a:r>
              <a:rPr lang="pt-BR" dirty="0"/>
              <a:t>e outra </a:t>
            </a:r>
            <a:r>
              <a:rPr lang="pt-BR" b="1" dirty="0"/>
              <a:t>se for falso.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Encadeada (</a:t>
            </a:r>
            <a:r>
              <a:rPr lang="pt-BR" b="1" dirty="0" err="1"/>
              <a:t>Nested</a:t>
            </a:r>
            <a:r>
              <a:rPr lang="pt-BR" b="1" dirty="0"/>
              <a:t> </a:t>
            </a:r>
            <a:r>
              <a:rPr lang="pt-BR" b="1" dirty="0" err="1"/>
              <a:t>Condition</a:t>
            </a:r>
            <a:r>
              <a:rPr lang="pt-BR" b="1" dirty="0"/>
              <a:t>) </a:t>
            </a:r>
            <a:r>
              <a:rPr lang="pt-BR" dirty="0"/>
              <a:t>— combina </a:t>
            </a:r>
            <a:r>
              <a:rPr lang="pt-BR" b="1" dirty="0"/>
              <a:t>várias condições</a:t>
            </a:r>
            <a:r>
              <a:rPr lang="pt-BR" dirty="0"/>
              <a:t>, uma dentro da outra.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Condicional Simples (</a:t>
            </a:r>
            <a:r>
              <a:rPr lang="pt-BR" dirty="0" err="1"/>
              <a:t>Simple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b="1" dirty="0"/>
              <a:t>Sintaxe em pseudocódigo:</a:t>
            </a:r>
          </a:p>
          <a:p>
            <a:pPr marL="0" indent="0">
              <a:buNone/>
            </a:pPr>
            <a:r>
              <a:rPr lang="pt-BR" sz="2000" dirty="0"/>
              <a:t>se (</a:t>
            </a:r>
            <a:r>
              <a:rPr lang="pt-BR" sz="2000" dirty="0" err="1"/>
              <a:t>condicao</a:t>
            </a:r>
            <a:r>
              <a:rPr lang="pt-BR" sz="2000" dirty="0"/>
              <a:t>) </a:t>
            </a:r>
            <a:r>
              <a:rPr lang="pt-BR" sz="2000" dirty="0" err="1"/>
              <a:t>entao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// ações executadas se for verdadeiro</a:t>
            </a:r>
          </a:p>
          <a:p>
            <a:pPr marL="0" indent="0">
              <a:buNone/>
            </a:pPr>
            <a:r>
              <a:rPr lang="pt-BR" sz="2000" dirty="0" err="1"/>
              <a:t>fimse</a:t>
            </a:r>
            <a:endParaRPr lang="pt-BR" sz="2000" dirty="0"/>
          </a:p>
          <a:p>
            <a:r>
              <a:rPr lang="pt-BR" sz="2000" b="1" dirty="0"/>
              <a:t>Exemplo:</a:t>
            </a:r>
          </a:p>
          <a:p>
            <a:pPr marL="0" indent="0">
              <a:buNone/>
            </a:pPr>
            <a:r>
              <a:rPr lang="pt-BR" sz="2000" dirty="0"/>
              <a:t>inicio</a:t>
            </a:r>
          </a:p>
          <a:p>
            <a:pPr marL="0" indent="0">
              <a:buNone/>
            </a:pPr>
            <a:r>
              <a:rPr lang="pt-BR" sz="2000" dirty="0"/>
              <a:t>  	leia idade</a:t>
            </a:r>
          </a:p>
          <a:p>
            <a:pPr marL="0" indent="0">
              <a:buNone/>
            </a:pPr>
            <a:r>
              <a:rPr lang="pt-BR" sz="2000" dirty="0"/>
              <a:t>  	se idade &gt;= 18 </a:t>
            </a:r>
            <a:r>
              <a:rPr lang="pt-BR" sz="2000" dirty="0" err="1"/>
              <a:t>entao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		escreva "Maior de idade"</a:t>
            </a:r>
          </a:p>
          <a:p>
            <a:pPr marL="0" indent="0">
              <a:buNone/>
            </a:pPr>
            <a:r>
              <a:rPr lang="pt-BR" sz="2000" dirty="0"/>
              <a:t>  	</a:t>
            </a:r>
            <a:r>
              <a:rPr lang="pt-BR" sz="2000" dirty="0" err="1"/>
              <a:t>fimse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fim</a:t>
            </a:r>
          </a:p>
          <a:p>
            <a:r>
              <a:rPr lang="pt-BR" sz="2000" b="1" dirty="0"/>
              <a:t>Saída:</a:t>
            </a:r>
          </a:p>
          <a:p>
            <a:pPr marL="0" indent="0">
              <a:buNone/>
            </a:pPr>
            <a:r>
              <a:rPr lang="pt-BR" sz="2000" dirty="0"/>
              <a:t>“Maior de idade” (se a condição for verdadeira)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78442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Condicional Composta (</a:t>
            </a:r>
            <a:r>
              <a:rPr lang="pt-BR" dirty="0" err="1"/>
              <a:t>If-Else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1600" b="1" dirty="0"/>
              <a:t>Sintaxe:</a:t>
            </a:r>
          </a:p>
          <a:p>
            <a:pPr marL="0" indent="0">
              <a:buNone/>
            </a:pPr>
            <a:r>
              <a:rPr lang="pt-BR" sz="1600" dirty="0"/>
              <a:t>se (</a:t>
            </a:r>
            <a:r>
              <a:rPr lang="pt-BR" sz="1600" dirty="0" err="1"/>
              <a:t>condicao</a:t>
            </a:r>
            <a:r>
              <a:rPr lang="pt-BR" sz="1600" dirty="0"/>
              <a:t>) </a:t>
            </a:r>
            <a:r>
              <a:rPr lang="pt-BR" sz="1600" dirty="0" err="1"/>
              <a:t>entao</a:t>
            </a:r>
            <a:endParaRPr lang="pt-BR" sz="1600" dirty="0"/>
          </a:p>
          <a:p>
            <a:pPr marL="0" indent="0">
              <a:buNone/>
            </a:pPr>
            <a:r>
              <a:rPr lang="pt-BR" sz="1600" dirty="0"/>
              <a:t>   // ação se for verdadeiro</a:t>
            </a:r>
          </a:p>
          <a:p>
            <a:pPr marL="0" indent="0">
              <a:buNone/>
            </a:pPr>
            <a:r>
              <a:rPr lang="pt-BR" sz="1600" dirty="0" err="1"/>
              <a:t>senao</a:t>
            </a:r>
            <a:endParaRPr lang="pt-BR" sz="1600" dirty="0"/>
          </a:p>
          <a:p>
            <a:pPr marL="0" indent="0">
              <a:buNone/>
            </a:pPr>
            <a:r>
              <a:rPr lang="pt-BR" sz="1600" dirty="0"/>
              <a:t>   // ação se for falso</a:t>
            </a:r>
          </a:p>
          <a:p>
            <a:pPr marL="0" indent="0">
              <a:buNone/>
            </a:pPr>
            <a:r>
              <a:rPr lang="pt-BR" sz="1600" dirty="0" err="1"/>
              <a:t>fimse</a:t>
            </a:r>
            <a:endParaRPr lang="pt-BR" sz="1600" dirty="0"/>
          </a:p>
          <a:p>
            <a:r>
              <a:rPr lang="pt-BR" sz="1600" b="1" dirty="0"/>
              <a:t>Exemplo:</a:t>
            </a:r>
          </a:p>
          <a:p>
            <a:pPr marL="0" indent="0">
              <a:buNone/>
            </a:pPr>
            <a:r>
              <a:rPr lang="pt-BR" sz="1600" dirty="0"/>
              <a:t>inicio</a:t>
            </a:r>
          </a:p>
          <a:p>
            <a:pPr marL="0" indent="0">
              <a:buNone/>
            </a:pPr>
            <a:r>
              <a:rPr lang="pt-BR" sz="1600" dirty="0"/>
              <a:t>  	leia nota</a:t>
            </a:r>
          </a:p>
          <a:p>
            <a:pPr marL="0" indent="0">
              <a:buNone/>
            </a:pPr>
            <a:r>
              <a:rPr lang="pt-BR" sz="1600" dirty="0"/>
              <a:t>  	se nota &gt;= 6 </a:t>
            </a:r>
            <a:r>
              <a:rPr lang="pt-BR" sz="1600" dirty="0" err="1"/>
              <a:t>entao</a:t>
            </a:r>
            <a:endParaRPr lang="pt-BR" sz="1600" dirty="0"/>
          </a:p>
          <a:p>
            <a:pPr marL="0" indent="0">
              <a:buNone/>
            </a:pPr>
            <a:r>
              <a:rPr lang="pt-BR" sz="1600" dirty="0"/>
              <a:t>     		escreva "Aprovado"</a:t>
            </a:r>
          </a:p>
          <a:p>
            <a:pPr marL="0" indent="0">
              <a:buNone/>
            </a:pPr>
            <a:r>
              <a:rPr lang="pt-BR" sz="1600" dirty="0"/>
              <a:t>  	</a:t>
            </a:r>
            <a:r>
              <a:rPr lang="pt-BR" sz="1600" dirty="0" err="1"/>
              <a:t>senao</a:t>
            </a:r>
            <a:endParaRPr lang="pt-BR" sz="1600" dirty="0"/>
          </a:p>
          <a:p>
            <a:pPr marL="0" indent="0">
              <a:buNone/>
            </a:pPr>
            <a:r>
              <a:rPr lang="pt-BR" sz="1600" dirty="0"/>
              <a:t>     		escreva "Reprovado"</a:t>
            </a:r>
          </a:p>
          <a:p>
            <a:pPr marL="0" indent="0">
              <a:buNone/>
            </a:pPr>
            <a:r>
              <a:rPr lang="pt-BR" sz="1600" dirty="0"/>
              <a:t>  	</a:t>
            </a:r>
            <a:r>
              <a:rPr lang="pt-BR" sz="1600" dirty="0" err="1"/>
              <a:t>fimse</a:t>
            </a:r>
            <a:endParaRPr lang="pt-BR" sz="1600" dirty="0"/>
          </a:p>
          <a:p>
            <a:pPr marL="0" indent="0">
              <a:buNone/>
            </a:pPr>
            <a:r>
              <a:rPr lang="pt-BR" sz="1600" dirty="0"/>
              <a:t>fim</a:t>
            </a:r>
          </a:p>
          <a:p>
            <a:r>
              <a:rPr lang="pt-BR" sz="1600" b="1" dirty="0"/>
              <a:t>Saída:</a:t>
            </a:r>
          </a:p>
          <a:p>
            <a:pPr marL="0" indent="0">
              <a:buNone/>
            </a:pPr>
            <a:r>
              <a:rPr lang="pt-BR" sz="1600" dirty="0"/>
              <a:t>“Aprovado” ou “Reprovado”, dependendo da nota.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Condicional Encadeada (</a:t>
            </a:r>
            <a:r>
              <a:rPr lang="pt-BR" dirty="0" err="1"/>
              <a:t>Nested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381"/>
            <a:ext cx="3638550" cy="4525963"/>
          </a:xfrm>
        </p:spPr>
        <p:txBody>
          <a:bodyPr>
            <a:noAutofit/>
          </a:bodyPr>
          <a:lstStyle/>
          <a:p>
            <a:r>
              <a:rPr lang="pt-BR" sz="2000" b="1" dirty="0"/>
              <a:t>Sintaxe:</a:t>
            </a:r>
          </a:p>
          <a:p>
            <a:pPr marL="0" indent="0">
              <a:buNone/>
            </a:pPr>
            <a:r>
              <a:rPr lang="pt-BR" sz="2000" dirty="0"/>
              <a:t>se (condicao1) </a:t>
            </a:r>
            <a:r>
              <a:rPr lang="pt-BR" sz="2000" dirty="0" err="1"/>
              <a:t>entao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	...</a:t>
            </a:r>
          </a:p>
          <a:p>
            <a:pPr marL="0" indent="0">
              <a:buNone/>
            </a:pPr>
            <a:r>
              <a:rPr lang="pt-BR" sz="2000" dirty="0" err="1"/>
              <a:t>senao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	se (condicao2) </a:t>
            </a:r>
            <a:r>
              <a:rPr lang="pt-BR" sz="2000" dirty="0" err="1"/>
              <a:t>entao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		 ...</a:t>
            </a:r>
          </a:p>
          <a:p>
            <a:pPr marL="0" indent="0">
              <a:buNone/>
            </a:pPr>
            <a:r>
              <a:rPr lang="pt-BR" sz="2000" dirty="0"/>
              <a:t>   	</a:t>
            </a:r>
            <a:r>
              <a:rPr lang="pt-BR" sz="2000" dirty="0" err="1"/>
              <a:t>senao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 		...</a:t>
            </a:r>
          </a:p>
          <a:p>
            <a:pPr marL="0" indent="0">
              <a:buNone/>
            </a:pPr>
            <a:r>
              <a:rPr lang="pt-BR" sz="2000" dirty="0"/>
              <a:t>   	</a:t>
            </a:r>
            <a:r>
              <a:rPr lang="pt-BR" sz="2000" dirty="0" err="1"/>
              <a:t>fimse</a:t>
            </a:r>
            <a:endParaRPr lang="pt-BR" sz="2000" dirty="0"/>
          </a:p>
          <a:p>
            <a:pPr marL="0" indent="0">
              <a:buNone/>
            </a:pPr>
            <a:r>
              <a:rPr lang="pt-BR" sz="2000" dirty="0" err="1"/>
              <a:t>fimse</a:t>
            </a:r>
            <a:endParaRPr lang="pt-BR" sz="2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2A0CFF7-8159-493F-B50E-4E8444C552B6}"/>
              </a:ext>
            </a:extLst>
          </p:cNvPr>
          <p:cNvSpPr/>
          <p:nvPr/>
        </p:nvSpPr>
        <p:spPr>
          <a:xfrm>
            <a:off x="4114800" y="1874381"/>
            <a:ext cx="4572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Exemplo:</a:t>
            </a:r>
          </a:p>
          <a:p>
            <a:r>
              <a:rPr lang="pt-BR" sz="2000" dirty="0"/>
              <a:t>inicio</a:t>
            </a:r>
          </a:p>
          <a:p>
            <a:r>
              <a:rPr lang="pt-BR" sz="2000" dirty="0"/>
              <a:t>  	leia nota</a:t>
            </a:r>
          </a:p>
          <a:p>
            <a:r>
              <a:rPr lang="pt-BR" sz="2000" dirty="0"/>
              <a:t>  	se nota &gt;= 9 </a:t>
            </a:r>
            <a:r>
              <a:rPr lang="pt-BR" sz="2000" dirty="0" err="1"/>
              <a:t>entao</a:t>
            </a:r>
            <a:endParaRPr lang="pt-BR" sz="2000" dirty="0"/>
          </a:p>
          <a:p>
            <a:r>
              <a:rPr lang="pt-BR" sz="2000" dirty="0"/>
              <a:t>     		escreva "Excelente"</a:t>
            </a:r>
          </a:p>
          <a:p>
            <a:r>
              <a:rPr lang="pt-BR" sz="2000" dirty="0"/>
              <a:t>  	</a:t>
            </a:r>
            <a:r>
              <a:rPr lang="pt-BR" sz="2000" dirty="0" err="1"/>
              <a:t>senao</a:t>
            </a:r>
            <a:endParaRPr lang="pt-BR" sz="2000" dirty="0"/>
          </a:p>
          <a:p>
            <a:r>
              <a:rPr lang="pt-BR" sz="2000" dirty="0"/>
              <a:t>     		se nota &gt;= 6 </a:t>
            </a:r>
            <a:r>
              <a:rPr lang="pt-BR" sz="2000" dirty="0" err="1"/>
              <a:t>entao</a:t>
            </a:r>
            <a:endParaRPr lang="pt-BR" sz="2000" dirty="0"/>
          </a:p>
          <a:p>
            <a:r>
              <a:rPr lang="pt-BR" sz="2000" dirty="0"/>
              <a:t>        			escreva "Aprovado"</a:t>
            </a:r>
          </a:p>
          <a:p>
            <a:r>
              <a:rPr lang="pt-BR" sz="2000" dirty="0"/>
              <a:t>     		</a:t>
            </a:r>
            <a:r>
              <a:rPr lang="pt-BR" sz="2000" dirty="0" err="1"/>
              <a:t>senao</a:t>
            </a:r>
            <a:endParaRPr lang="pt-BR" sz="2000" dirty="0"/>
          </a:p>
          <a:p>
            <a:r>
              <a:rPr lang="pt-BR" sz="2000" dirty="0"/>
              <a:t>        			escreva "Reprovado"</a:t>
            </a:r>
          </a:p>
          <a:p>
            <a:r>
              <a:rPr lang="pt-BR" sz="2000" dirty="0"/>
              <a:t>     		</a:t>
            </a:r>
            <a:r>
              <a:rPr lang="pt-BR" sz="2000" dirty="0" err="1"/>
              <a:t>fimse</a:t>
            </a:r>
            <a:endParaRPr lang="pt-BR" sz="2000" dirty="0"/>
          </a:p>
          <a:p>
            <a:r>
              <a:rPr lang="pt-BR" sz="2000" dirty="0"/>
              <a:t>  	</a:t>
            </a:r>
            <a:r>
              <a:rPr lang="pt-BR" sz="2000" dirty="0" err="1"/>
              <a:t>fimse</a:t>
            </a:r>
            <a:endParaRPr lang="pt-BR" sz="2000" dirty="0"/>
          </a:p>
          <a:p>
            <a:r>
              <a:rPr lang="pt-BR" sz="2000" dirty="0"/>
              <a:t>fim</a:t>
            </a:r>
          </a:p>
          <a:p>
            <a:r>
              <a:rPr lang="pt-BR" sz="2000" b="1" dirty="0"/>
              <a:t>Saída:</a:t>
            </a:r>
          </a:p>
          <a:p>
            <a:r>
              <a:rPr lang="pt-BR" sz="2000" dirty="0"/>
              <a:t>Classifica o desempenho conforme a nota.</a:t>
            </a:r>
          </a:p>
        </p:txBody>
      </p:sp>
    </p:spTree>
    <p:extLst>
      <p:ext uri="{BB962C8B-B14F-4D97-AF65-F5344CB8AC3E}">
        <p14:creationId xmlns:p14="http://schemas.microsoft.com/office/powerpoint/2010/main" val="122945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Estruturas Condicionais Aninhadas (</a:t>
            </a:r>
            <a:r>
              <a:rPr lang="pt-BR" dirty="0" err="1"/>
              <a:t>Nested</a:t>
            </a:r>
            <a:r>
              <a:rPr lang="pt-BR" dirty="0"/>
              <a:t> </a:t>
            </a:r>
            <a:r>
              <a:rPr lang="pt-BR" dirty="0" err="1"/>
              <a:t>Conditions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dirty="0"/>
              <a:t>Uma </a:t>
            </a:r>
            <a:r>
              <a:rPr lang="pt-BR" sz="2000" b="1" dirty="0"/>
              <a:t>condição dentro de outra</a:t>
            </a:r>
            <a:r>
              <a:rPr lang="pt-BR" sz="2000" dirty="0"/>
              <a:t>.</a:t>
            </a:r>
          </a:p>
          <a:p>
            <a:r>
              <a:rPr lang="pt-BR" sz="2000" dirty="0"/>
              <a:t>Usada para </a:t>
            </a:r>
            <a:r>
              <a:rPr lang="pt-BR" sz="2000" b="1" dirty="0"/>
              <a:t>verificações duplas </a:t>
            </a:r>
            <a:r>
              <a:rPr lang="pt-BR" sz="2000" dirty="0"/>
              <a:t>(</a:t>
            </a:r>
            <a:r>
              <a:rPr lang="pt-BR" sz="2000" dirty="0" err="1"/>
              <a:t>ex</a:t>
            </a:r>
            <a:r>
              <a:rPr lang="pt-BR" sz="2000" dirty="0"/>
              <a:t>: idade e nacionalidade).</a:t>
            </a:r>
          </a:p>
          <a:p>
            <a:r>
              <a:rPr lang="pt-BR" sz="2000" dirty="0"/>
              <a:t>Requer </a:t>
            </a:r>
            <a:r>
              <a:rPr lang="pt-BR" sz="2000" b="1" dirty="0"/>
              <a:t>atenção com a </a:t>
            </a:r>
            <a:r>
              <a:rPr lang="pt-BR" sz="2000" b="1" dirty="0" err="1"/>
              <a:t>identação</a:t>
            </a:r>
            <a:r>
              <a:rPr lang="pt-BR" sz="2000" b="1" dirty="0"/>
              <a:t> </a:t>
            </a:r>
            <a:r>
              <a:rPr lang="pt-BR" sz="2000" dirty="0"/>
              <a:t>(</a:t>
            </a:r>
            <a:r>
              <a:rPr lang="pt-BR" sz="2000" dirty="0" err="1"/>
              <a:t>indentation</a:t>
            </a:r>
            <a:r>
              <a:rPr lang="pt-BR" sz="2000" dirty="0"/>
              <a:t>) para manter o código legível.</a:t>
            </a:r>
          </a:p>
          <a:p>
            <a:r>
              <a:rPr lang="pt-BR" sz="2000" b="1" dirty="0"/>
              <a:t>Exemplo:</a:t>
            </a:r>
          </a:p>
          <a:p>
            <a:pPr marL="0" indent="0">
              <a:buNone/>
            </a:pPr>
            <a:r>
              <a:rPr lang="pt-BR" sz="2000" dirty="0"/>
              <a:t>inicio</a:t>
            </a:r>
          </a:p>
          <a:p>
            <a:pPr marL="0" indent="0">
              <a:buNone/>
            </a:pPr>
            <a:r>
              <a:rPr lang="pt-BR" sz="2000" dirty="0"/>
              <a:t>  	leia idade, nacionalidade</a:t>
            </a:r>
          </a:p>
          <a:p>
            <a:pPr marL="0" indent="0">
              <a:buNone/>
            </a:pPr>
            <a:r>
              <a:rPr lang="pt-BR" sz="2000" dirty="0"/>
              <a:t>  	se idade &gt;= 18 </a:t>
            </a:r>
            <a:r>
              <a:rPr lang="pt-BR" sz="2000" dirty="0" err="1"/>
              <a:t>entao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		se nacionalidade = "Brasileiro" </a:t>
            </a:r>
            <a:r>
              <a:rPr lang="pt-BR" sz="2000" dirty="0" err="1"/>
              <a:t>entao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   			escreva "Pode votar"</a:t>
            </a:r>
          </a:p>
          <a:p>
            <a:pPr marL="0" indent="0">
              <a:buNone/>
            </a:pPr>
            <a:r>
              <a:rPr lang="pt-BR" sz="2000" dirty="0"/>
              <a:t>     		</a:t>
            </a:r>
            <a:r>
              <a:rPr lang="pt-BR" sz="2000" dirty="0" err="1"/>
              <a:t>fimse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	</a:t>
            </a:r>
            <a:r>
              <a:rPr lang="pt-BR" sz="2000" dirty="0" err="1"/>
              <a:t>fimse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60267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Condicional com Operadores Lógicos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9645-D6E9-49B9-ADDA-9E883F8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Permite </a:t>
            </a:r>
            <a:r>
              <a:rPr lang="pt-BR" b="1" dirty="0"/>
              <a:t>combinar condições </a:t>
            </a:r>
            <a:r>
              <a:rPr lang="pt-BR" dirty="0"/>
              <a:t>usando </a:t>
            </a:r>
            <a:r>
              <a:rPr lang="pt-BR" b="1" dirty="0"/>
              <a:t>e (AND)</a:t>
            </a:r>
            <a:r>
              <a:rPr lang="pt-BR" dirty="0"/>
              <a:t>,</a:t>
            </a:r>
            <a:r>
              <a:rPr lang="pt-BR" b="1" dirty="0"/>
              <a:t> ou (OR) </a:t>
            </a:r>
            <a:r>
              <a:rPr lang="pt-BR" dirty="0"/>
              <a:t>e </a:t>
            </a:r>
            <a:r>
              <a:rPr lang="pt-BR" b="1" dirty="0" err="1"/>
              <a:t>nao</a:t>
            </a:r>
            <a:r>
              <a:rPr lang="pt-BR" b="1" dirty="0"/>
              <a:t> (NOT)</a:t>
            </a:r>
            <a:r>
              <a:rPr lang="pt-BR" dirty="0"/>
              <a:t>.</a:t>
            </a:r>
          </a:p>
          <a:p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leia idade, carteira</a:t>
            </a:r>
          </a:p>
          <a:p>
            <a:pPr marL="0" indent="0">
              <a:buNone/>
            </a:pPr>
            <a:r>
              <a:rPr lang="pt-BR" dirty="0"/>
              <a:t>  	se idade &gt;= 18 e carteira = verdadeiro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escreva "Pode dirigir"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senao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escreva "Não pode dirigir"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r>
              <a:rPr lang="pt-BR" b="1" dirty="0"/>
              <a:t>Saída:</a:t>
            </a:r>
          </a:p>
          <a:p>
            <a:pPr marL="0" indent="0">
              <a:buNone/>
            </a:pPr>
            <a:r>
              <a:rPr lang="pt-BR" dirty="0"/>
              <a:t>“Pode dirigir” apenas se ambas as condições forem verdadeiras.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Sempre use </a:t>
            </a:r>
            <a:r>
              <a:rPr lang="pt-BR" b="1" dirty="0"/>
              <a:t>parênteses</a:t>
            </a:r>
            <a:r>
              <a:rPr lang="pt-BR" dirty="0"/>
              <a:t> para deixar clara a ordem das condições.</a:t>
            </a:r>
          </a:p>
          <a:p>
            <a:r>
              <a:rPr lang="pt-BR" dirty="0"/>
              <a:t>Use </a:t>
            </a:r>
            <a:r>
              <a:rPr lang="pt-BR" b="1" dirty="0"/>
              <a:t>comentários</a:t>
            </a:r>
            <a:r>
              <a:rPr lang="pt-BR" dirty="0"/>
              <a:t> (//) para explicar blocos de decisão.</a:t>
            </a:r>
          </a:p>
          <a:p>
            <a:r>
              <a:rPr lang="pt-BR" dirty="0"/>
              <a:t>Evite </a:t>
            </a:r>
            <a:r>
              <a:rPr lang="pt-BR" b="1" dirty="0"/>
              <a:t>condições duplicadas </a:t>
            </a:r>
            <a:r>
              <a:rPr lang="pt-BR" dirty="0"/>
              <a:t>ou desnecessárias.</a:t>
            </a:r>
          </a:p>
          <a:p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// Verifica se número é par</a:t>
            </a:r>
          </a:p>
          <a:p>
            <a:pPr marL="0" indent="0">
              <a:buNone/>
            </a:pPr>
            <a:r>
              <a:rPr lang="pt-BR" dirty="0"/>
              <a:t> 	leia num</a:t>
            </a:r>
          </a:p>
          <a:p>
            <a:pPr marL="0" indent="0">
              <a:buNone/>
            </a:pPr>
            <a:r>
              <a:rPr lang="pt-BR" dirty="0"/>
              <a:t>  	se (num % 2 = 0)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escreva "Número par"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senao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escreva "Número ímpar"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Completo: Sistema de Desconto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algoritmo "</a:t>
            </a:r>
            <a:r>
              <a:rPr lang="pt-BR" dirty="0" err="1"/>
              <a:t>sistema_desconto</a:t>
            </a:r>
            <a:r>
              <a:rPr lang="pt-BR" dirty="0"/>
              <a:t>"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leia valor</a:t>
            </a:r>
          </a:p>
          <a:p>
            <a:pPr marL="0" indent="0">
              <a:buNone/>
            </a:pPr>
            <a:r>
              <a:rPr lang="pt-BR" dirty="0"/>
              <a:t>  	se valor &gt;= 100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desconto ← valor * 0.1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senao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	desconto ← 0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	total ← valor - desconto</a:t>
            </a:r>
          </a:p>
          <a:p>
            <a:pPr marL="0" indent="0">
              <a:buNone/>
            </a:pPr>
            <a:r>
              <a:rPr lang="pt-BR" dirty="0"/>
              <a:t>  	escreva "Total a pagar:", total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r>
              <a:rPr lang="pt-BR" b="1" dirty="0"/>
              <a:t>Saída:</a:t>
            </a:r>
          </a:p>
          <a:p>
            <a:pPr marL="0" indent="0">
              <a:buNone/>
            </a:pPr>
            <a:r>
              <a:rPr lang="pt-BR" dirty="0"/>
              <a:t>Exibe o valor com ou sem desconto, conforme o caso.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Erros Comuns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Usar = ao invés de == para comparar. </a:t>
            </a:r>
          </a:p>
          <a:p>
            <a:r>
              <a:rPr lang="pt-BR" dirty="0"/>
              <a:t>Esquecer o </a:t>
            </a:r>
            <a:r>
              <a:rPr lang="pt-BR" dirty="0" err="1"/>
              <a:t>fimse</a:t>
            </a:r>
            <a:r>
              <a:rPr lang="pt-BR" dirty="0"/>
              <a:t> ao encerrar o bloco.</a:t>
            </a:r>
          </a:p>
          <a:p>
            <a:r>
              <a:rPr lang="pt-BR" dirty="0"/>
              <a:t>Condições mal </a:t>
            </a:r>
            <a:r>
              <a:rPr lang="pt-BR" dirty="0" err="1"/>
              <a:t>indentadas</a:t>
            </a:r>
            <a:r>
              <a:rPr lang="pt-BR" dirty="0"/>
              <a:t> dificultam leitura.</a:t>
            </a:r>
          </a:p>
          <a:p>
            <a:r>
              <a:rPr lang="pt-BR" dirty="0"/>
              <a:t>Usar operadores lógicos de forma confusa.</a:t>
            </a:r>
          </a:p>
          <a:p>
            <a:r>
              <a:rPr lang="pt-BR" dirty="0"/>
              <a:t>Dica: Sempre </a:t>
            </a:r>
            <a:r>
              <a:rPr lang="pt-BR" b="1" dirty="0"/>
              <a:t>teste as condições </a:t>
            </a:r>
            <a:r>
              <a:rPr lang="pt-BR" dirty="0"/>
              <a:t>com diferentes valores de entrada.</a:t>
            </a:r>
          </a:p>
        </p:txBody>
      </p:sp>
    </p:spTree>
    <p:extLst>
      <p:ext uri="{BB962C8B-B14F-4D97-AF65-F5344CB8AC3E}">
        <p14:creationId xmlns:p14="http://schemas.microsoft.com/office/powerpoint/2010/main" val="423538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9250-9E34-4757-9F7B-ACD516E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31854-FCBF-47B9-B0EA-1E5FBDCA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estruturas condicionais tornam o algoritmo </a:t>
            </a:r>
            <a:r>
              <a:rPr lang="pt-BR" b="1" dirty="0"/>
              <a:t>inteligente e adaptável</a:t>
            </a:r>
            <a:r>
              <a:rPr lang="pt-BR" dirty="0"/>
              <a:t>.</a:t>
            </a:r>
          </a:p>
          <a:p>
            <a:r>
              <a:rPr lang="pt-BR" dirty="0"/>
              <a:t>O comando se...</a:t>
            </a:r>
            <a:r>
              <a:rPr lang="pt-BR" dirty="0" err="1"/>
              <a:t>entao</a:t>
            </a:r>
            <a:r>
              <a:rPr lang="pt-BR" dirty="0"/>
              <a:t>...</a:t>
            </a:r>
            <a:r>
              <a:rPr lang="pt-BR" dirty="0" err="1"/>
              <a:t>senao</a:t>
            </a:r>
            <a:r>
              <a:rPr lang="pt-BR" dirty="0"/>
              <a:t> é a base de qualquer </a:t>
            </a:r>
            <a:r>
              <a:rPr lang="pt-BR" b="1" dirty="0"/>
              <a:t>decisão lógica</a:t>
            </a:r>
            <a:r>
              <a:rPr lang="pt-BR" dirty="0"/>
              <a:t>.</a:t>
            </a:r>
          </a:p>
          <a:p>
            <a:r>
              <a:rPr lang="pt-BR" dirty="0"/>
              <a:t>Entender bem essa etapa é essencial antes de passar para </a:t>
            </a:r>
            <a:r>
              <a:rPr lang="pt-BR" b="1" dirty="0"/>
              <a:t>estruturas de repetição (loops)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356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411</Words>
  <Application>Microsoft Office PowerPoint</Application>
  <PresentationFormat>Apresentação na tela (4:3)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Etapa 4 — Estruturas Condicionais (Conditional Structures)</vt:lpstr>
      <vt:lpstr>O que são Estruturas Condicionais?</vt:lpstr>
      <vt:lpstr>Tipos de Estruturas Condicionais</vt:lpstr>
      <vt:lpstr>Estrutura Condicional Simples (Simple If)</vt:lpstr>
      <vt:lpstr>Estrutura Condicional Composta (If-Else)</vt:lpstr>
      <vt:lpstr>Estrutura Condicional Encadeada (Nested If)</vt:lpstr>
      <vt:lpstr>Estruturas Condicionais Aninhadas (Nested Conditions)</vt:lpstr>
      <vt:lpstr>Estrutura Condicional com Operadores Lógicos</vt:lpstr>
      <vt:lpstr>Dica Prática</vt:lpstr>
      <vt:lpstr>Exemplo Completo: Sistema de Desconto</vt:lpstr>
      <vt:lpstr>Erros Comuns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>Murilo Rocha</dc:creator>
  <cp:keywords/>
  <dc:description>generated using python-pptx</dc:description>
  <cp:lastModifiedBy>Murilo Rocha</cp:lastModifiedBy>
  <cp:revision>33</cp:revision>
  <dcterms:created xsi:type="dcterms:W3CDTF">2013-01-27T09:14:16Z</dcterms:created>
  <dcterms:modified xsi:type="dcterms:W3CDTF">2025-11-06T05:13:40Z</dcterms:modified>
  <cp:category/>
</cp:coreProperties>
</file>