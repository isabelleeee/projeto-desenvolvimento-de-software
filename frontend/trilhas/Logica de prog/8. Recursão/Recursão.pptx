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81" r:id="rId5"/>
    <p:sldId id="274" r:id="rId6"/>
    <p:sldId id="260" r:id="rId7"/>
    <p:sldId id="275" r:id="rId8"/>
    <p:sldId id="276" r:id="rId9"/>
    <p:sldId id="277" r:id="rId10"/>
    <p:sldId id="263" r:id="rId11"/>
    <p:sldId id="264" r:id="rId12"/>
    <p:sldId id="265" r:id="rId13"/>
    <p:sldId id="279" r:id="rId14"/>
    <p:sldId id="280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37" autoAdjust="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38329-A266-43EE-AEB3-4C153EED7A33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8ABD9-DD46-4ED5-A0D7-D1D843D8C1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83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Etapa 8 — Recursão (</a:t>
            </a:r>
            <a:r>
              <a:rPr lang="pt-BR" dirty="0" err="1"/>
              <a:t>Recursion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Trilha: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Recursão?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b="1" dirty="0"/>
              <a:t>Recursão (</a:t>
            </a:r>
            <a:r>
              <a:rPr lang="pt-BR" sz="2400" b="1" dirty="0" err="1"/>
              <a:t>Recursion</a:t>
            </a:r>
            <a:r>
              <a:rPr lang="pt-BR" sz="2400" b="1" dirty="0"/>
              <a:t>)</a:t>
            </a:r>
            <a:r>
              <a:rPr lang="pt-BR" sz="2400" dirty="0"/>
              <a:t> é quando uma </a:t>
            </a:r>
            <a:r>
              <a:rPr lang="pt-BR" sz="2400" b="1" dirty="0"/>
              <a:t>função chama a si mesma</a:t>
            </a:r>
            <a:r>
              <a:rPr lang="pt-BR" sz="2400" dirty="0"/>
              <a:t>.</a:t>
            </a:r>
          </a:p>
          <a:p>
            <a:r>
              <a:rPr lang="pt-BR" sz="2400" dirty="0"/>
              <a:t>Permite resolver problemas dividindo-os em </a:t>
            </a:r>
            <a:r>
              <a:rPr lang="pt-BR" sz="2400" b="1" dirty="0"/>
              <a:t>subproblemas menores</a:t>
            </a:r>
            <a:r>
              <a:rPr lang="pt-BR" sz="2400" dirty="0"/>
              <a:t>.</a:t>
            </a:r>
          </a:p>
          <a:p>
            <a:r>
              <a:rPr lang="pt-BR" sz="2400" dirty="0"/>
              <a:t>Necessita de uma </a:t>
            </a:r>
            <a:r>
              <a:rPr lang="pt-BR" sz="2400" b="1" dirty="0"/>
              <a:t>condição de parada (base case)</a:t>
            </a:r>
            <a:r>
              <a:rPr lang="pt-BR" sz="2400" dirty="0"/>
              <a:t> para evitar loops infinitos.</a:t>
            </a:r>
          </a:p>
          <a:p>
            <a:r>
              <a:rPr lang="pt-BR" sz="2400" dirty="0"/>
              <a:t>Exemplo prático: cálculo do </a:t>
            </a:r>
            <a:r>
              <a:rPr lang="pt-BR" sz="2400" b="1" dirty="0"/>
              <a:t>fatorial</a:t>
            </a:r>
            <a:r>
              <a:rPr lang="pt-BR" sz="24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de uma Função Recursiva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Pseudocódigo:</a:t>
            </a:r>
          </a:p>
          <a:p>
            <a:pPr marL="0" indent="0">
              <a:buNone/>
            </a:pPr>
            <a:r>
              <a:rPr lang="pt-BR" dirty="0" err="1"/>
              <a:t>funcao</a:t>
            </a:r>
            <a:r>
              <a:rPr lang="pt-BR" dirty="0"/>
              <a:t> nome(param)</a:t>
            </a:r>
          </a:p>
          <a:p>
            <a:pPr marL="0" indent="0">
              <a:buNone/>
            </a:pPr>
            <a:r>
              <a:rPr lang="pt-BR" dirty="0"/>
              <a:t>  	se </a:t>
            </a:r>
            <a:r>
              <a:rPr lang="pt-BR" dirty="0" err="1"/>
              <a:t>condicao_base</a:t>
            </a:r>
            <a:r>
              <a:rPr lang="pt-BR" dirty="0"/>
              <a:t>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retorna valor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senao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// chamada recursiva</a:t>
            </a:r>
          </a:p>
          <a:p>
            <a:pPr marL="0" indent="0">
              <a:buNone/>
            </a:pPr>
            <a:r>
              <a:rPr lang="pt-BR" dirty="0"/>
              <a:t>     		retorna nome(</a:t>
            </a:r>
            <a:r>
              <a:rPr lang="pt-BR" dirty="0" err="1"/>
              <a:t>novo_param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 err="1"/>
              <a:t>fimfuncao</a:t>
            </a:r>
            <a:endParaRPr lang="pt-BR" dirty="0"/>
          </a:p>
          <a:p>
            <a:r>
              <a:rPr lang="pt-BR" dirty="0"/>
              <a:t>Deve sempre ter uma </a:t>
            </a:r>
            <a:r>
              <a:rPr lang="pt-BR" b="1" dirty="0"/>
              <a:t>condição base</a:t>
            </a:r>
            <a:r>
              <a:rPr lang="pt-BR" dirty="0"/>
              <a:t> e uma </a:t>
            </a:r>
            <a:r>
              <a:rPr lang="pt-BR" b="1" dirty="0"/>
              <a:t>chamada recursiva</a:t>
            </a:r>
            <a:r>
              <a:rPr lang="pt-BR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Exemplo: Fatorial Recursivo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dirty="0"/>
              <a:t>Pseudocódigo:</a:t>
            </a:r>
          </a:p>
          <a:p>
            <a:pPr marL="0" indent="0">
              <a:buNone/>
            </a:pPr>
            <a:r>
              <a:rPr lang="pt-BR" dirty="0" err="1"/>
              <a:t>funcao</a:t>
            </a:r>
            <a:r>
              <a:rPr lang="pt-BR" dirty="0"/>
              <a:t> fatorial(n)</a:t>
            </a:r>
          </a:p>
          <a:p>
            <a:pPr marL="0" indent="0">
              <a:buNone/>
            </a:pPr>
            <a:r>
              <a:rPr lang="pt-BR" dirty="0"/>
              <a:t>  	se n = 0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retorna 1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senao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retorna n * fatorial(n - 1)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 err="1"/>
              <a:t>fimfuncao</a:t>
            </a:r>
            <a:endParaRPr lang="pt-BR" dirty="0"/>
          </a:p>
          <a:p>
            <a:r>
              <a:rPr lang="pt-BR" b="1" dirty="0"/>
              <a:t>Cálculo de fatorial(3):</a:t>
            </a:r>
            <a:br>
              <a:rPr lang="pt-BR" dirty="0"/>
            </a:br>
            <a:r>
              <a:rPr lang="pt-BR" dirty="0"/>
              <a:t>→ 3 × fatorial(2)</a:t>
            </a:r>
            <a:br>
              <a:rPr lang="pt-BR" dirty="0"/>
            </a:br>
            <a:r>
              <a:rPr lang="pt-BR" dirty="0"/>
              <a:t>→ 3 × (2 × fatorial(1))</a:t>
            </a:r>
            <a:br>
              <a:rPr lang="pt-BR" dirty="0"/>
            </a:br>
            <a:r>
              <a:rPr lang="pt-BR" dirty="0"/>
              <a:t>→ 3 × (2 × (1 × fatorial(0)))</a:t>
            </a:r>
            <a:br>
              <a:rPr lang="pt-BR" dirty="0"/>
            </a:br>
            <a:r>
              <a:rPr lang="pt-BR" dirty="0"/>
              <a:t>→ 3 × 2 × 1 × 1 = 6</a:t>
            </a:r>
          </a:p>
        </p:txBody>
      </p:sp>
    </p:spTree>
    <p:extLst>
      <p:ext uri="{BB962C8B-B14F-4D97-AF65-F5344CB8AC3E}">
        <p14:creationId xmlns:p14="http://schemas.microsoft.com/office/powerpoint/2010/main" val="255589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Funciona a Pilha de Execução (</a:t>
            </a:r>
            <a:r>
              <a:rPr lang="pt-BR" dirty="0" err="1"/>
              <a:t>Call</a:t>
            </a:r>
            <a:r>
              <a:rPr lang="pt-BR" dirty="0"/>
              <a:t> </a:t>
            </a:r>
            <a:r>
              <a:rPr lang="pt-BR" dirty="0" err="1"/>
              <a:t>Stack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Cada chamada recursiva é </a:t>
            </a:r>
            <a:r>
              <a:rPr lang="pt-BR" sz="2400" b="1" dirty="0"/>
              <a:t>armazenada na pilha (</a:t>
            </a:r>
            <a:r>
              <a:rPr lang="pt-BR" sz="2400" b="1" dirty="0" err="1"/>
              <a:t>stack</a:t>
            </a:r>
            <a:r>
              <a:rPr lang="pt-BR" sz="2400" b="1" dirty="0"/>
              <a:t>)</a:t>
            </a:r>
            <a:r>
              <a:rPr lang="pt-BR" sz="2400" dirty="0"/>
              <a:t>.</a:t>
            </a:r>
          </a:p>
          <a:p>
            <a:r>
              <a:rPr lang="pt-BR" sz="2400" dirty="0"/>
              <a:t>Quando atinge o caso base, as chamadas começam a </a:t>
            </a:r>
            <a:r>
              <a:rPr lang="pt-BR" sz="2400" b="1" dirty="0"/>
              <a:t>retornar</a:t>
            </a:r>
            <a:r>
              <a:rPr lang="pt-BR" sz="2400" dirty="0"/>
              <a:t>.</a:t>
            </a:r>
          </a:p>
          <a:p>
            <a:r>
              <a:rPr lang="pt-BR" sz="2400" dirty="0"/>
              <a:t>A pilha desempilha as funções em ordem inversa à chamada (LIFO — </a:t>
            </a:r>
            <a:r>
              <a:rPr lang="pt-BR" sz="2400" i="1" dirty="0" err="1"/>
              <a:t>Last</a:t>
            </a:r>
            <a:r>
              <a:rPr lang="pt-BR" sz="2400" i="1" dirty="0"/>
              <a:t> In, </a:t>
            </a:r>
            <a:r>
              <a:rPr lang="pt-BR" sz="2400" i="1" dirty="0" err="1"/>
              <a:t>First</a:t>
            </a:r>
            <a:r>
              <a:rPr lang="pt-BR" sz="2400" i="1" dirty="0"/>
              <a:t> Out</a:t>
            </a:r>
            <a:r>
              <a:rPr lang="pt-BR" sz="2400" dirty="0"/>
              <a:t>).</a:t>
            </a:r>
          </a:p>
          <a:p>
            <a:r>
              <a:rPr lang="pt-BR" sz="2400" b="1" dirty="0"/>
              <a:t>Atenção:</a:t>
            </a:r>
            <a:r>
              <a:rPr lang="pt-BR" sz="2400" dirty="0"/>
              <a:t> recursão excessiva pode causar </a:t>
            </a:r>
            <a:r>
              <a:rPr lang="pt-BR" sz="2400" b="1" dirty="0"/>
              <a:t>estouro de pilha (</a:t>
            </a:r>
            <a:r>
              <a:rPr lang="pt-BR" sz="2400" b="1" dirty="0" err="1"/>
              <a:t>stack</a:t>
            </a:r>
            <a:r>
              <a:rPr lang="pt-BR" sz="2400" b="1" dirty="0"/>
              <a:t> overflow)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1409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Caso Base (Base Case)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000" dirty="0"/>
              <a:t>É a </a:t>
            </a:r>
            <a:r>
              <a:rPr lang="pt-BR" sz="2000" b="1" dirty="0"/>
              <a:t>condição que encerra a recursão</a:t>
            </a:r>
            <a:r>
              <a:rPr lang="pt-BR" sz="2000" dirty="0"/>
              <a:t>.</a:t>
            </a:r>
          </a:p>
          <a:p>
            <a:r>
              <a:rPr lang="pt-BR" sz="2000" dirty="0"/>
              <a:t>Sem ela, a função nunca para.</a:t>
            </a:r>
          </a:p>
          <a:p>
            <a:r>
              <a:rPr lang="pt-BR" sz="2000" dirty="0"/>
              <a:t>Deve ser simples e retornar um valor direto.</a:t>
            </a:r>
          </a:p>
          <a:p>
            <a:r>
              <a:rPr lang="pt-BR" sz="2000" b="1" dirty="0"/>
              <a:t>Exemplo:</a:t>
            </a:r>
            <a:endParaRPr lang="pt-BR" sz="2000" dirty="0"/>
          </a:p>
          <a:p>
            <a:pPr marL="0" indent="0">
              <a:buNone/>
            </a:pPr>
            <a:r>
              <a:rPr lang="pt-BR" sz="2000" dirty="0" err="1"/>
              <a:t>funcao</a:t>
            </a:r>
            <a:r>
              <a:rPr lang="pt-BR" sz="2000" dirty="0"/>
              <a:t> </a:t>
            </a:r>
            <a:r>
              <a:rPr lang="pt-BR" sz="2000" dirty="0" err="1"/>
              <a:t>contagem_regressiva</a:t>
            </a:r>
            <a:r>
              <a:rPr lang="pt-BR" sz="2000" dirty="0"/>
              <a:t>(n)</a:t>
            </a:r>
          </a:p>
          <a:p>
            <a:pPr marL="0" indent="0">
              <a:buNone/>
            </a:pPr>
            <a:r>
              <a:rPr lang="pt-BR" sz="2000" dirty="0"/>
              <a:t>  	se n = 0 </a:t>
            </a:r>
            <a:r>
              <a:rPr lang="pt-BR" sz="2000" dirty="0" err="1"/>
              <a:t>entao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		escreva "Fim!"</a:t>
            </a:r>
          </a:p>
          <a:p>
            <a:pPr marL="0" indent="0">
              <a:buNone/>
            </a:pPr>
            <a:r>
              <a:rPr lang="pt-BR" sz="2000" dirty="0"/>
              <a:t>  	</a:t>
            </a:r>
            <a:r>
              <a:rPr lang="pt-BR" sz="2000" dirty="0" err="1"/>
              <a:t>senao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		escreva n</a:t>
            </a:r>
          </a:p>
          <a:p>
            <a:pPr marL="0" indent="0">
              <a:buNone/>
            </a:pPr>
            <a:r>
              <a:rPr lang="pt-BR" sz="2000" dirty="0"/>
              <a:t>     		</a:t>
            </a:r>
            <a:r>
              <a:rPr lang="pt-BR" sz="2000" dirty="0" err="1"/>
              <a:t>contagem_regressiva</a:t>
            </a:r>
            <a:r>
              <a:rPr lang="pt-BR" sz="2000" dirty="0"/>
              <a:t>(n - 1)</a:t>
            </a:r>
          </a:p>
          <a:p>
            <a:pPr marL="0" indent="0">
              <a:buNone/>
            </a:pPr>
            <a:r>
              <a:rPr lang="pt-BR" sz="2000" dirty="0"/>
              <a:t>  	</a:t>
            </a:r>
            <a:r>
              <a:rPr lang="pt-BR" sz="2000" dirty="0" err="1"/>
              <a:t>fimse</a:t>
            </a:r>
            <a:endParaRPr lang="pt-BR" sz="2000" dirty="0"/>
          </a:p>
          <a:p>
            <a:pPr marL="0" indent="0">
              <a:buNone/>
            </a:pPr>
            <a:r>
              <a:rPr lang="pt-BR" sz="2000" dirty="0" err="1"/>
              <a:t>fimfuncao</a:t>
            </a:r>
            <a:endParaRPr lang="pt-BR" sz="2000" dirty="0"/>
          </a:p>
          <a:p>
            <a:pPr marL="0" indent="0">
              <a:buNone/>
            </a:pPr>
            <a:endParaRPr lang="pt-BR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Exemplos de Aplicações de Recursão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b="1" dirty="0"/>
              <a:t>Matemática</a:t>
            </a:r>
            <a:r>
              <a:rPr lang="pt-BR" sz="2400" dirty="0"/>
              <a:t>: fatorial, sequência de Fibonacci.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b="1" dirty="0"/>
              <a:t>Estruturas de dados</a:t>
            </a:r>
            <a:r>
              <a:rPr lang="pt-BR" sz="2400" dirty="0"/>
              <a:t>: percorrer árvores e grafos.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b="1" dirty="0"/>
              <a:t>Busca e ordenação</a:t>
            </a:r>
            <a:r>
              <a:rPr lang="pt-BR" sz="2400" dirty="0"/>
              <a:t>: </a:t>
            </a:r>
            <a:r>
              <a:rPr lang="pt-BR" sz="2400" dirty="0" err="1"/>
              <a:t>binary</a:t>
            </a:r>
            <a:r>
              <a:rPr lang="pt-BR" sz="2400" dirty="0"/>
              <a:t> </a:t>
            </a:r>
            <a:r>
              <a:rPr lang="pt-BR" sz="2400" dirty="0" err="1"/>
              <a:t>search</a:t>
            </a:r>
            <a:r>
              <a:rPr lang="pt-BR" sz="2400" dirty="0"/>
              <a:t>, merge </a:t>
            </a:r>
            <a:r>
              <a:rPr lang="pt-BR" sz="2400" dirty="0" err="1"/>
              <a:t>sort</a:t>
            </a:r>
            <a:r>
              <a:rPr lang="pt-BR" sz="2400" dirty="0"/>
              <a:t>, </a:t>
            </a:r>
            <a:r>
              <a:rPr lang="pt-BR" sz="2400" dirty="0" err="1"/>
              <a:t>quick</a:t>
            </a:r>
            <a:r>
              <a:rPr lang="pt-BR" sz="2400" dirty="0"/>
              <a:t> </a:t>
            </a:r>
            <a:r>
              <a:rPr lang="pt-BR" sz="2400" dirty="0" err="1"/>
              <a:t>sort</a:t>
            </a:r>
            <a:r>
              <a:rPr lang="pt-BR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b="1" dirty="0"/>
              <a:t>Problemas lógicos</a:t>
            </a:r>
            <a:r>
              <a:rPr lang="pt-BR" sz="2400" dirty="0"/>
              <a:t>: Torre de Hanói, labirintos, permutações.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131095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Exemplo: Fibonacci Recursivo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400" b="1" dirty="0"/>
              <a:t>Pseudocódigo:</a:t>
            </a:r>
          </a:p>
          <a:p>
            <a:pPr marL="0" indent="0">
              <a:buNone/>
            </a:pPr>
            <a:r>
              <a:rPr lang="pt-BR" sz="2400" dirty="0" err="1"/>
              <a:t>funcao</a:t>
            </a:r>
            <a:r>
              <a:rPr lang="pt-BR" sz="2400" dirty="0"/>
              <a:t> </a:t>
            </a:r>
            <a:r>
              <a:rPr lang="pt-BR" sz="2400" dirty="0" err="1"/>
              <a:t>fibonacci</a:t>
            </a:r>
            <a:r>
              <a:rPr lang="pt-BR" sz="2400" dirty="0"/>
              <a:t>(n)</a:t>
            </a:r>
          </a:p>
          <a:p>
            <a:pPr marL="0" indent="0">
              <a:buNone/>
            </a:pPr>
            <a:r>
              <a:rPr lang="pt-BR" sz="2400" dirty="0"/>
              <a:t>  	se n &lt;= 1 </a:t>
            </a:r>
            <a:r>
              <a:rPr lang="pt-BR" sz="2400" dirty="0" err="1"/>
              <a:t>entao</a:t>
            </a:r>
            <a:endParaRPr lang="pt-BR" sz="2400" dirty="0"/>
          </a:p>
          <a:p>
            <a:pPr marL="0" indent="0">
              <a:buNone/>
            </a:pPr>
            <a:r>
              <a:rPr lang="pt-BR" sz="2400" dirty="0"/>
              <a:t>     		retorna n</a:t>
            </a:r>
          </a:p>
          <a:p>
            <a:pPr marL="0" indent="0">
              <a:buNone/>
            </a:pPr>
            <a:r>
              <a:rPr lang="pt-BR" sz="2400" dirty="0"/>
              <a:t>  	</a:t>
            </a:r>
            <a:r>
              <a:rPr lang="pt-BR" sz="2400" dirty="0" err="1"/>
              <a:t>senao</a:t>
            </a:r>
            <a:endParaRPr lang="pt-BR" sz="2400" dirty="0"/>
          </a:p>
          <a:p>
            <a:pPr marL="0" indent="0">
              <a:buNone/>
            </a:pPr>
            <a:r>
              <a:rPr lang="pt-BR" sz="2400" dirty="0"/>
              <a:t>     		retorna </a:t>
            </a:r>
            <a:r>
              <a:rPr lang="pt-BR" sz="2400" dirty="0" err="1"/>
              <a:t>fibonacci</a:t>
            </a:r>
            <a:r>
              <a:rPr lang="pt-BR" sz="2400" dirty="0"/>
              <a:t>(n - 1) + </a:t>
            </a:r>
            <a:r>
              <a:rPr lang="pt-BR" sz="2400" dirty="0" err="1"/>
              <a:t>fibonacci</a:t>
            </a:r>
            <a:r>
              <a:rPr lang="pt-BR" sz="2400" dirty="0"/>
              <a:t>(n - 2)</a:t>
            </a:r>
          </a:p>
          <a:p>
            <a:pPr marL="0" indent="0">
              <a:buNone/>
            </a:pPr>
            <a:r>
              <a:rPr lang="pt-BR" sz="2400" dirty="0"/>
              <a:t>  	</a:t>
            </a:r>
            <a:r>
              <a:rPr lang="pt-BR" sz="2400" dirty="0" err="1"/>
              <a:t>fimse</a:t>
            </a:r>
            <a:endParaRPr lang="pt-BR" sz="2400" dirty="0"/>
          </a:p>
          <a:p>
            <a:pPr marL="0" indent="0">
              <a:buNone/>
            </a:pPr>
            <a:r>
              <a:rPr lang="pt-BR" sz="2400" dirty="0" err="1"/>
              <a:t>fimfuncao</a:t>
            </a:r>
            <a:endParaRPr lang="pt-BR" sz="2400" dirty="0"/>
          </a:p>
          <a:p>
            <a:r>
              <a:rPr lang="pt-BR" sz="2400" b="1" dirty="0"/>
              <a:t>Saída:</a:t>
            </a:r>
          </a:p>
          <a:p>
            <a:pPr marL="0" indent="0">
              <a:buNone/>
            </a:pPr>
            <a:r>
              <a:rPr lang="pt-BR" sz="2400" dirty="0" err="1"/>
              <a:t>fibonacci</a:t>
            </a:r>
            <a:r>
              <a:rPr lang="pt-BR" sz="2400" dirty="0"/>
              <a:t>(5) → 5</a:t>
            </a:r>
          </a:p>
          <a:p>
            <a:pPr marL="0" indent="0">
              <a:buNone/>
            </a:pPr>
            <a:r>
              <a:rPr lang="pt-BR" sz="2400" dirty="0"/>
              <a:t>(0, 1, 1, 2, 3, 5, 8...)</a:t>
            </a:r>
          </a:p>
        </p:txBody>
      </p:sp>
    </p:spTree>
    <p:extLst>
      <p:ext uri="{BB962C8B-B14F-4D97-AF65-F5344CB8AC3E}">
        <p14:creationId xmlns:p14="http://schemas.microsoft.com/office/powerpoint/2010/main" val="3096899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Diferença entre Recursão e Iteração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43275"/>
            <a:ext cx="8229600" cy="2276476"/>
          </a:xfrm>
        </p:spPr>
        <p:txBody>
          <a:bodyPr>
            <a:noAutofit/>
          </a:bodyPr>
          <a:lstStyle/>
          <a:p>
            <a:r>
              <a:rPr lang="pt-BR" sz="2400" b="1" dirty="0"/>
              <a:t>Dica:</a:t>
            </a:r>
            <a:r>
              <a:rPr lang="pt-BR" sz="2400" dirty="0"/>
              <a:t> muitas soluções recursivas podem ser transformadas em iterativas.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8011781-6AE9-4D1F-95D6-FD333C174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6751"/>
              </p:ext>
            </p:extLst>
          </p:nvPr>
        </p:nvGraphicFramePr>
        <p:xfrm>
          <a:off x="457200" y="1417638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73190683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1959177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514966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/>
                        <a:t>Característica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Recursão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Iteração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88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Estrutura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Função chama a si mesma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Usa loops (for, </a:t>
                      </a:r>
                      <a:r>
                        <a:rPr lang="pt-BR" dirty="0" err="1"/>
                        <a:t>while</a:t>
                      </a:r>
                      <a:r>
                        <a:rPr lang="pt-BR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123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Controle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Caso 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Condição de parada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66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Memória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Usa pilha (stack)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Usa variável de controle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049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Leitura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Mais conceitual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Mais prática e direta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1656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765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FFB8E-A925-4174-8739-C08A4B9D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Vantagens e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49645-D6E9-49B9-ADDA-9E883F8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Vantagens:</a:t>
            </a:r>
            <a:endParaRPr lang="pt-BR" dirty="0"/>
          </a:p>
          <a:p>
            <a:pPr lvl="1"/>
            <a:r>
              <a:rPr lang="pt-BR" dirty="0"/>
              <a:t>Código mais </a:t>
            </a:r>
            <a:r>
              <a:rPr lang="pt-BR" b="1" dirty="0"/>
              <a:t>curto e elegante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Natural para resolver problemas divididos em partes menores.</a:t>
            </a:r>
          </a:p>
          <a:p>
            <a:r>
              <a:rPr lang="pt-BR" b="1" dirty="0"/>
              <a:t>Desvantagens:</a:t>
            </a:r>
            <a:endParaRPr lang="pt-BR" dirty="0"/>
          </a:p>
          <a:p>
            <a:pPr lvl="1"/>
            <a:r>
              <a:rPr lang="pt-BR" dirty="0"/>
              <a:t>Maior uso de </a:t>
            </a:r>
            <a:r>
              <a:rPr lang="pt-BR" b="1" dirty="0"/>
              <a:t>memória</a:t>
            </a:r>
            <a:r>
              <a:rPr lang="pt-BR" dirty="0"/>
              <a:t> (pilha).</a:t>
            </a:r>
          </a:p>
          <a:p>
            <a:pPr lvl="1"/>
            <a:r>
              <a:rPr lang="pt-BR" dirty="0"/>
              <a:t>Pode ser mais </a:t>
            </a:r>
            <a:r>
              <a:rPr lang="pt-BR" b="1" dirty="0"/>
              <a:t>lento</a:t>
            </a:r>
            <a:r>
              <a:rPr lang="pt-BR" dirty="0"/>
              <a:t> que a iteração.</a:t>
            </a:r>
          </a:p>
          <a:p>
            <a:pPr lvl="1"/>
            <a:r>
              <a:rPr lang="pt-BR" dirty="0"/>
              <a:t>Difícil de depurar se for mal implementado.</a:t>
            </a:r>
          </a:p>
        </p:txBody>
      </p:sp>
    </p:spTree>
    <p:extLst>
      <p:ext uri="{BB962C8B-B14F-4D97-AF65-F5344CB8AC3E}">
        <p14:creationId xmlns:p14="http://schemas.microsoft.com/office/powerpoint/2010/main" val="2048670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70B27-1C68-4081-ACCD-3AFCF40F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Boas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646785-0DB0-4C42-A1F2-D949FB20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Sempre defina </a:t>
            </a:r>
            <a:r>
              <a:rPr lang="pt-BR" b="1" dirty="0"/>
              <a:t>caso base </a:t>
            </a:r>
            <a:r>
              <a:rPr lang="pt-BR" dirty="0"/>
              <a:t>claro.</a:t>
            </a:r>
          </a:p>
          <a:p>
            <a:r>
              <a:rPr lang="pt-BR" dirty="0"/>
              <a:t>Teste com </a:t>
            </a:r>
            <a:r>
              <a:rPr lang="pt-BR" b="1" dirty="0"/>
              <a:t>valores pequenos </a:t>
            </a:r>
            <a:r>
              <a:rPr lang="pt-BR" dirty="0"/>
              <a:t>antes de escalar.</a:t>
            </a:r>
          </a:p>
          <a:p>
            <a:r>
              <a:rPr lang="pt-BR" dirty="0"/>
              <a:t>Prefira </a:t>
            </a:r>
            <a:r>
              <a:rPr lang="pt-BR" b="1" dirty="0"/>
              <a:t>recursão de cauda (</a:t>
            </a:r>
            <a:r>
              <a:rPr lang="pt-BR" b="1" dirty="0" err="1"/>
              <a:t>tail</a:t>
            </a:r>
            <a:r>
              <a:rPr lang="pt-BR" b="1" dirty="0"/>
              <a:t> </a:t>
            </a:r>
            <a:r>
              <a:rPr lang="pt-BR" b="1" dirty="0" err="1"/>
              <a:t>recursion</a:t>
            </a:r>
            <a:r>
              <a:rPr lang="pt-BR" b="1" dirty="0"/>
              <a:t>) </a:t>
            </a:r>
            <a:r>
              <a:rPr lang="pt-BR" dirty="0"/>
              <a:t>quando possível.</a:t>
            </a:r>
          </a:p>
          <a:p>
            <a:r>
              <a:rPr lang="pt-BR" dirty="0"/>
              <a:t>Use </a:t>
            </a:r>
            <a:r>
              <a:rPr lang="pt-BR" b="1" dirty="0"/>
              <a:t>comentários explicativos </a:t>
            </a:r>
            <a:r>
              <a:rPr lang="pt-BR" dirty="0"/>
              <a:t>para facilitar leitura.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32646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Avançado: Torre de Hanói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/>
              <a:t>Pseudocódigo:</a:t>
            </a:r>
          </a:p>
          <a:p>
            <a:pPr marL="0" indent="0">
              <a:buNone/>
            </a:pPr>
            <a:r>
              <a:rPr lang="pt-BR" dirty="0"/>
              <a:t>procedimento </a:t>
            </a:r>
            <a:r>
              <a:rPr lang="pt-BR" dirty="0" err="1"/>
              <a:t>hanoi</a:t>
            </a:r>
            <a:r>
              <a:rPr lang="pt-BR" dirty="0"/>
              <a:t>(n, origem, destino, auxiliar)</a:t>
            </a:r>
          </a:p>
          <a:p>
            <a:pPr marL="0" indent="0">
              <a:buNone/>
            </a:pPr>
            <a:r>
              <a:rPr lang="pt-BR" dirty="0"/>
              <a:t>  	se n = 1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escreva "Mover disco 1 de", origem, "para", destino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senao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</a:t>
            </a:r>
            <a:r>
              <a:rPr lang="pt-BR" dirty="0" err="1"/>
              <a:t>hanoi</a:t>
            </a:r>
            <a:r>
              <a:rPr lang="pt-BR" dirty="0"/>
              <a:t>(n - 1, origem, auxiliar, destino)</a:t>
            </a:r>
          </a:p>
          <a:p>
            <a:pPr marL="0" indent="0">
              <a:buNone/>
            </a:pPr>
            <a:r>
              <a:rPr lang="pt-BR" dirty="0"/>
              <a:t>     		escreva "Mover disco", n, "de", origem, "para", destino</a:t>
            </a:r>
          </a:p>
          <a:p>
            <a:pPr marL="0" indent="0">
              <a:buNone/>
            </a:pPr>
            <a:r>
              <a:rPr lang="pt-BR" dirty="0"/>
              <a:t>     		</a:t>
            </a:r>
            <a:r>
              <a:rPr lang="pt-BR" dirty="0" err="1"/>
              <a:t>hanoi</a:t>
            </a:r>
            <a:r>
              <a:rPr lang="pt-BR" dirty="0"/>
              <a:t>(n - 1, auxiliar, destino, origem)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 err="1"/>
              <a:t>fimprocedimento</a:t>
            </a:r>
            <a:endParaRPr lang="pt-BR" dirty="0"/>
          </a:p>
          <a:p>
            <a:r>
              <a:rPr lang="pt-BR" dirty="0"/>
              <a:t>Resolve o problema com </a:t>
            </a:r>
            <a:r>
              <a:rPr lang="pt-BR" b="1" dirty="0"/>
              <a:t>3 pinos e n discos</a:t>
            </a:r>
            <a:r>
              <a:rPr lang="pt-BR" dirty="0"/>
              <a:t>, aplicando o mesmo padrão recursivo.</a:t>
            </a:r>
          </a:p>
        </p:txBody>
      </p:sp>
    </p:spTree>
    <p:extLst>
      <p:ext uri="{BB962C8B-B14F-4D97-AF65-F5344CB8AC3E}">
        <p14:creationId xmlns:p14="http://schemas.microsoft.com/office/powerpoint/2010/main" val="401761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Recursão em Estruturas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Usada para </a:t>
            </a:r>
            <a:r>
              <a:rPr lang="pt-BR" b="1" dirty="0"/>
              <a:t>percorrer árvores (</a:t>
            </a:r>
            <a:r>
              <a:rPr lang="pt-BR" b="1" dirty="0" err="1"/>
              <a:t>trees</a:t>
            </a:r>
            <a:r>
              <a:rPr lang="pt-BR" b="1" dirty="0"/>
              <a:t>) </a:t>
            </a:r>
            <a:r>
              <a:rPr lang="pt-BR" dirty="0"/>
              <a:t>e </a:t>
            </a:r>
            <a:r>
              <a:rPr lang="pt-BR" b="1" dirty="0"/>
              <a:t>grafos (</a:t>
            </a:r>
            <a:r>
              <a:rPr lang="pt-BR" b="1" dirty="0" err="1"/>
              <a:t>graphs</a:t>
            </a:r>
            <a:r>
              <a:rPr lang="pt-BR" b="1" dirty="0"/>
              <a:t>)</a:t>
            </a:r>
            <a:r>
              <a:rPr lang="pt-BR" dirty="0"/>
              <a:t>.</a:t>
            </a:r>
          </a:p>
          <a:p>
            <a:r>
              <a:rPr lang="pt-BR" dirty="0"/>
              <a:t>Exemplo clássico: </a:t>
            </a:r>
            <a:r>
              <a:rPr lang="pt-BR" dirty="0" err="1"/>
              <a:t>traversal</a:t>
            </a:r>
            <a:r>
              <a:rPr lang="pt-BR" dirty="0"/>
              <a:t> em árvore binária.</a:t>
            </a:r>
          </a:p>
          <a:p>
            <a:r>
              <a:rPr lang="pt-BR" b="1" dirty="0"/>
              <a:t>Exemplo:</a:t>
            </a:r>
          </a:p>
          <a:p>
            <a:pPr marL="0" indent="0">
              <a:buNone/>
            </a:pPr>
            <a:r>
              <a:rPr lang="pt-BR" dirty="0"/>
              <a:t>procedimento </a:t>
            </a:r>
            <a:r>
              <a:rPr lang="pt-BR" dirty="0" err="1"/>
              <a:t>percorrer_no</a:t>
            </a:r>
            <a:r>
              <a:rPr lang="pt-BR" dirty="0"/>
              <a:t>(no)</a:t>
            </a:r>
          </a:p>
          <a:p>
            <a:pPr marL="0" indent="0">
              <a:buNone/>
            </a:pPr>
            <a:r>
              <a:rPr lang="pt-BR" dirty="0"/>
              <a:t>  	se no ≠ nulo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</a:t>
            </a:r>
            <a:r>
              <a:rPr lang="pt-BR" dirty="0" err="1"/>
              <a:t>percorrer_no</a:t>
            </a:r>
            <a:r>
              <a:rPr lang="pt-BR" dirty="0"/>
              <a:t>(</a:t>
            </a:r>
            <a:r>
              <a:rPr lang="pt-BR" dirty="0" err="1"/>
              <a:t>no.esquerda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     		escreva </a:t>
            </a:r>
            <a:r>
              <a:rPr lang="pt-BR" dirty="0" err="1"/>
              <a:t>no.valor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</a:t>
            </a:r>
            <a:r>
              <a:rPr lang="pt-BR" dirty="0" err="1"/>
              <a:t>percorrer_no</a:t>
            </a:r>
            <a:r>
              <a:rPr lang="pt-BR" dirty="0"/>
              <a:t>(</a:t>
            </a:r>
            <a:r>
              <a:rPr lang="pt-BR" dirty="0" err="1"/>
              <a:t>no.direita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 err="1"/>
              <a:t>fimprocedimento</a:t>
            </a:r>
            <a:endParaRPr lang="pt-BR" dirty="0"/>
          </a:p>
          <a:p>
            <a:pPr marL="0" indent="0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6609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Dicas de Depuração (</a:t>
            </a:r>
            <a:r>
              <a:rPr lang="pt-BR" dirty="0" err="1"/>
              <a:t>Debugging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Use </a:t>
            </a:r>
            <a:r>
              <a:rPr lang="pt-BR" b="1" dirty="0"/>
              <a:t>prints</a:t>
            </a:r>
            <a:r>
              <a:rPr lang="pt-BR" dirty="0"/>
              <a:t> para acompanhar chamadas.</a:t>
            </a:r>
          </a:p>
          <a:p>
            <a:r>
              <a:rPr lang="pt-BR" dirty="0"/>
              <a:t>Identifique quando e como o caso base é atingido.</a:t>
            </a:r>
          </a:p>
          <a:p>
            <a:r>
              <a:rPr lang="pt-BR" dirty="0"/>
              <a:t>Desenhe o </a:t>
            </a:r>
            <a:r>
              <a:rPr lang="pt-BR" b="1" dirty="0"/>
              <a:t>fluxo da pilha </a:t>
            </a:r>
            <a:r>
              <a:rPr lang="pt-BR" dirty="0"/>
              <a:t>em papel se necessário.</a:t>
            </a:r>
          </a:p>
          <a:p>
            <a:r>
              <a:rPr lang="pt-BR" dirty="0"/>
              <a:t>Se o código travar, verifique:</a:t>
            </a:r>
          </a:p>
          <a:p>
            <a:pPr lvl="1"/>
            <a:r>
              <a:rPr lang="pt-BR" dirty="0"/>
              <a:t>Caso base correto?</a:t>
            </a:r>
          </a:p>
          <a:p>
            <a:pPr lvl="1"/>
            <a:r>
              <a:rPr lang="pt-BR" dirty="0"/>
              <a:t>Parâmetros estão diminuindo?</a:t>
            </a:r>
          </a:p>
        </p:txBody>
      </p:sp>
    </p:spTree>
    <p:extLst>
      <p:ext uri="{BB962C8B-B14F-4D97-AF65-F5344CB8AC3E}">
        <p14:creationId xmlns:p14="http://schemas.microsoft.com/office/powerpoint/2010/main" val="1834697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Boas Práticas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Cada chamada recursiva deve </a:t>
            </a:r>
            <a:r>
              <a:rPr lang="pt-BR" b="1" dirty="0"/>
              <a:t>aproximar-se do caso base</a:t>
            </a:r>
            <a:r>
              <a:rPr lang="pt-BR" dirty="0"/>
              <a:t>.</a:t>
            </a:r>
          </a:p>
          <a:p>
            <a:r>
              <a:rPr lang="pt-BR" dirty="0"/>
              <a:t>Teste para </a:t>
            </a:r>
            <a:r>
              <a:rPr lang="pt-BR" b="1" dirty="0"/>
              <a:t>n = 0 ou n = 1</a:t>
            </a:r>
            <a:r>
              <a:rPr lang="pt-BR" dirty="0"/>
              <a:t> sempre.</a:t>
            </a:r>
          </a:p>
          <a:p>
            <a:r>
              <a:rPr lang="pt-BR" dirty="0"/>
              <a:t>Prefira recursão </a:t>
            </a:r>
            <a:r>
              <a:rPr lang="pt-BR" b="1" dirty="0"/>
              <a:t>somente quando</a:t>
            </a:r>
            <a:r>
              <a:rPr lang="pt-BR" dirty="0"/>
              <a:t> ela for mais clara que um loop.</a:t>
            </a:r>
          </a:p>
          <a:p>
            <a:pPr marL="0" indent="0">
              <a:buNone/>
            </a:pPr>
            <a:r>
              <a:rPr lang="pt-BR" dirty="0"/>
              <a:t>“Recursão é poderosa, mas requer disciplina.”</a:t>
            </a:r>
          </a:p>
        </p:txBody>
      </p:sp>
    </p:spTree>
    <p:extLst>
      <p:ext uri="{BB962C8B-B14F-4D97-AF65-F5344CB8AC3E}">
        <p14:creationId xmlns:p14="http://schemas.microsoft.com/office/powerpoint/2010/main" val="1939791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800" dirty="0"/>
              <a:t>Recursão é uma </a:t>
            </a:r>
            <a:r>
              <a:rPr lang="pt-BR" sz="2800" b="1" dirty="0"/>
              <a:t>estratégia de repetição conceitual</a:t>
            </a:r>
            <a:r>
              <a:rPr lang="pt-BR" sz="2800" dirty="0"/>
              <a:t>, onde a função resolve versões menores do mesmo problema.</a:t>
            </a:r>
          </a:p>
          <a:p>
            <a:r>
              <a:rPr lang="pt-BR" sz="2800" dirty="0"/>
              <a:t>É fundamental em </a:t>
            </a:r>
            <a:r>
              <a:rPr lang="pt-BR" sz="2800" b="1" dirty="0"/>
              <a:t>estruturas de dados</a:t>
            </a:r>
            <a:r>
              <a:rPr lang="pt-BR" sz="2800" dirty="0"/>
              <a:t>, </a:t>
            </a:r>
            <a:r>
              <a:rPr lang="pt-BR" sz="2800" b="1" dirty="0"/>
              <a:t>buscas</a:t>
            </a:r>
            <a:r>
              <a:rPr lang="pt-BR" sz="2800" dirty="0"/>
              <a:t>, e </a:t>
            </a:r>
            <a:r>
              <a:rPr lang="pt-BR" sz="2800" b="1" dirty="0"/>
              <a:t>algoritmos matemáticos</a:t>
            </a:r>
            <a:r>
              <a:rPr lang="pt-BR" sz="2800" dirty="0"/>
              <a:t>.</a:t>
            </a:r>
          </a:p>
          <a:p>
            <a:r>
              <a:rPr lang="pt-BR" sz="2800" dirty="0"/>
              <a:t>Saber identificar quando aplicá-la é um sinal de </a:t>
            </a:r>
            <a:r>
              <a:rPr lang="pt-BR" sz="2800" b="1" dirty="0"/>
              <a:t>maturidade em lógica</a:t>
            </a:r>
            <a:r>
              <a:rPr lang="pt-BR" sz="2800" dirty="0"/>
              <a:t>.</a:t>
            </a:r>
          </a:p>
          <a:p>
            <a:r>
              <a:rPr lang="pt-BR" sz="2800" dirty="0"/>
              <a:t>Dominar recursão abre caminho para entender </a:t>
            </a:r>
            <a:r>
              <a:rPr lang="pt-BR" sz="2800" b="1" dirty="0"/>
              <a:t>estruturas complexas </a:t>
            </a:r>
            <a:r>
              <a:rPr lang="pt-BR" sz="2800" dirty="0"/>
              <a:t>e </a:t>
            </a:r>
            <a:r>
              <a:rPr lang="pt-BR" sz="2800" b="1" dirty="0"/>
              <a:t>algoritmos avançados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2717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584</Words>
  <Application>Microsoft Office PowerPoint</Application>
  <PresentationFormat>Apresentação na tela (4:3)</PresentationFormat>
  <Paragraphs>133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Etapa 8 — Recursão (Recursion)</vt:lpstr>
      <vt:lpstr>O que é Recursão?</vt:lpstr>
      <vt:lpstr>Estrutura de uma Função Recursiva</vt:lpstr>
      <vt:lpstr>Exemplo: Fatorial Recursivo</vt:lpstr>
      <vt:lpstr>Como Funciona a Pilha de Execução (Call Stack)</vt:lpstr>
      <vt:lpstr>Caso Base (Base Case)</vt:lpstr>
      <vt:lpstr>Exemplos de Aplicações de Recursão</vt:lpstr>
      <vt:lpstr>Exemplo: Fibonacci Recursivo</vt:lpstr>
      <vt:lpstr>Diferença entre Recursão e Iteração</vt:lpstr>
      <vt:lpstr>Vantagens e Desvantagens</vt:lpstr>
      <vt:lpstr>Boas Práticas</vt:lpstr>
      <vt:lpstr>Exemplo Avançado: Torre de Hanói</vt:lpstr>
      <vt:lpstr>Recursão em Estruturas de Dados</vt:lpstr>
      <vt:lpstr>Dicas de Depuração (Debugging)</vt:lpstr>
      <vt:lpstr>Boas Práticas Finais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Introdução a Algoritmos e Pseudocódigo</dc:title>
  <dc:subject/>
  <dc:creator>Murilo Rocha</dc:creator>
  <cp:keywords/>
  <dc:description>generated using python-pptx</dc:description>
  <cp:lastModifiedBy>Murilo Rocha</cp:lastModifiedBy>
  <cp:revision>59</cp:revision>
  <dcterms:created xsi:type="dcterms:W3CDTF">2013-01-27T09:14:16Z</dcterms:created>
  <dcterms:modified xsi:type="dcterms:W3CDTF">2025-11-06T19:43:22Z</dcterms:modified>
  <cp:category/>
</cp:coreProperties>
</file>