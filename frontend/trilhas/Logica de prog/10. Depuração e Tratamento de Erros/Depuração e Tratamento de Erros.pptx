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81" r:id="rId5"/>
    <p:sldId id="274" r:id="rId6"/>
    <p:sldId id="260" r:id="rId7"/>
    <p:sldId id="275" r:id="rId8"/>
    <p:sldId id="282" r:id="rId9"/>
    <p:sldId id="283" r:id="rId10"/>
    <p:sldId id="276" r:id="rId11"/>
    <p:sldId id="284" r:id="rId12"/>
    <p:sldId id="264" r:id="rId13"/>
    <p:sldId id="265" r:id="rId14"/>
    <p:sldId id="27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7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8329-A266-43EE-AEB3-4C153EED7A33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ABD9-DD46-4ED5-A0D7-D1D843D8C1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Etapa 10 — Depuração e Tratamento de Erros (</a:t>
            </a:r>
            <a:r>
              <a:rPr lang="pt-BR" dirty="0" err="1"/>
              <a:t>Debugging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Error</a:t>
            </a:r>
            <a:r>
              <a:rPr lang="pt-BR" dirty="0"/>
              <a:t> </a:t>
            </a:r>
            <a:r>
              <a:rPr lang="pt-BR" dirty="0" err="1"/>
              <a:t>Handling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Mesmo programas simples podem conter </a:t>
            </a:r>
            <a:r>
              <a:rPr lang="pt-BR" sz="2400" b="1" dirty="0"/>
              <a:t>erros (bugs)</a:t>
            </a:r>
            <a:r>
              <a:rPr lang="pt-BR" sz="2400" dirty="0"/>
              <a:t>.</a:t>
            </a:r>
          </a:p>
          <a:p>
            <a:r>
              <a:rPr lang="pt-BR" sz="2400" dirty="0"/>
              <a:t>A </a:t>
            </a:r>
            <a:r>
              <a:rPr lang="pt-BR" sz="2400" b="1" dirty="0"/>
              <a:t>depuração (</a:t>
            </a:r>
            <a:r>
              <a:rPr lang="pt-BR" sz="2400" b="1" dirty="0" err="1"/>
              <a:t>debugging</a:t>
            </a:r>
            <a:r>
              <a:rPr lang="pt-BR" sz="2400" b="1" dirty="0"/>
              <a:t>)</a:t>
            </a:r>
            <a:r>
              <a:rPr lang="pt-BR" sz="2400" dirty="0"/>
              <a:t> é o processo de </a:t>
            </a:r>
            <a:r>
              <a:rPr lang="pt-BR" sz="2400" b="1" dirty="0"/>
              <a:t>identificar e corrigir</a:t>
            </a:r>
            <a:r>
              <a:rPr lang="pt-BR" sz="2400" dirty="0"/>
              <a:t> esses erros.</a:t>
            </a:r>
          </a:p>
          <a:p>
            <a:r>
              <a:rPr lang="pt-BR" sz="2400" dirty="0"/>
              <a:t>O </a:t>
            </a:r>
            <a:r>
              <a:rPr lang="pt-BR" sz="2400" b="1" dirty="0"/>
              <a:t>tratamento de erros (</a:t>
            </a:r>
            <a:r>
              <a:rPr lang="pt-BR" sz="2400" b="1" dirty="0" err="1"/>
              <a:t>error</a:t>
            </a:r>
            <a:r>
              <a:rPr lang="pt-BR" sz="2400" b="1" dirty="0"/>
              <a:t> </a:t>
            </a:r>
            <a:r>
              <a:rPr lang="pt-BR" sz="2400" b="1" dirty="0" err="1"/>
              <a:t>handling</a:t>
            </a:r>
            <a:r>
              <a:rPr lang="pt-BR" sz="2400" b="1" dirty="0"/>
              <a:t>)</a:t>
            </a:r>
            <a:r>
              <a:rPr lang="pt-BR" sz="2400" dirty="0"/>
              <a:t> garante que o programa reaja de forma </a:t>
            </a:r>
            <a:r>
              <a:rPr lang="pt-BR" sz="2400" b="1" dirty="0"/>
              <a:t>controlada</a:t>
            </a:r>
            <a:r>
              <a:rPr lang="pt-BR" sz="2400" dirty="0"/>
              <a:t> a falhas inesperadas.</a:t>
            </a:r>
          </a:p>
          <a:p>
            <a:pPr marL="0" indent="0">
              <a:buNone/>
            </a:pPr>
            <a:r>
              <a:rPr lang="pt-BR" sz="2400" dirty="0"/>
              <a:t>“Erros são inevitáveis — a forma como o programa lida com eles define sua robustez.”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de Erros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b="1" dirty="0"/>
              <a:t>Erro de Sintaxe (</a:t>
            </a:r>
            <a:r>
              <a:rPr lang="pt-BR" b="1" dirty="0" err="1"/>
              <a:t>Syntax</a:t>
            </a:r>
            <a:r>
              <a:rPr lang="pt-BR" b="1" dirty="0"/>
              <a:t> </a:t>
            </a:r>
            <a:r>
              <a:rPr lang="pt-BR" b="1" dirty="0" err="1"/>
              <a:t>Error</a:t>
            </a:r>
            <a:r>
              <a:rPr lang="pt-BR" b="1" dirty="0"/>
              <a:t>)</a:t>
            </a:r>
          </a:p>
          <a:p>
            <a:pPr marL="914400" lvl="1" indent="-514350"/>
            <a:r>
              <a:rPr lang="pt-BR" dirty="0"/>
              <a:t>Quebra das regras da linguagem.</a:t>
            </a:r>
          </a:p>
          <a:p>
            <a:pPr marL="914400" lvl="1" indent="-514350"/>
            <a:r>
              <a:rPr lang="pt-BR" dirty="0"/>
              <a:t>Exemplo: esquecer um parêntese ou ponto e vírgula.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Erro de Execução (</a:t>
            </a:r>
            <a:r>
              <a:rPr lang="pt-BR" b="1" dirty="0" err="1"/>
              <a:t>Runtime</a:t>
            </a:r>
            <a:r>
              <a:rPr lang="pt-BR" b="1" dirty="0"/>
              <a:t> </a:t>
            </a:r>
            <a:r>
              <a:rPr lang="pt-BR" b="1" dirty="0" err="1"/>
              <a:t>Error</a:t>
            </a:r>
            <a:r>
              <a:rPr lang="pt-BR" b="1" dirty="0"/>
              <a:t>)</a:t>
            </a:r>
          </a:p>
          <a:p>
            <a:pPr marL="914400" lvl="1" indent="-514350"/>
            <a:r>
              <a:rPr lang="pt-BR" dirty="0"/>
              <a:t>Ocorre durante a execução, como dividir por zero.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Erro Lógico (</a:t>
            </a:r>
            <a:r>
              <a:rPr lang="pt-BR" b="1" dirty="0" err="1"/>
              <a:t>Logic</a:t>
            </a:r>
            <a:r>
              <a:rPr lang="pt-BR" b="1" dirty="0"/>
              <a:t> </a:t>
            </a:r>
            <a:r>
              <a:rPr lang="pt-BR" b="1" dirty="0" err="1"/>
              <a:t>Error</a:t>
            </a:r>
            <a:r>
              <a:rPr lang="pt-BR" b="1" dirty="0"/>
              <a:t>)</a:t>
            </a:r>
          </a:p>
          <a:p>
            <a:pPr marL="914400" lvl="1" indent="-514350"/>
            <a:r>
              <a:rPr lang="pt-BR" dirty="0"/>
              <a:t>O programa executa, mas o resultado está errado.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de Erros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Erro de Sintaxe:</a:t>
            </a:r>
          </a:p>
          <a:p>
            <a:pPr marL="0" indent="0">
              <a:buNone/>
            </a:pPr>
            <a:r>
              <a:rPr lang="pt-BR" dirty="0"/>
              <a:t>se x &gt; 10</a:t>
            </a:r>
          </a:p>
          <a:p>
            <a:pPr marL="0" indent="0">
              <a:buNone/>
            </a:pPr>
            <a:r>
              <a:rPr lang="pt-BR" dirty="0"/>
              <a:t>  	escreva("Maior que 10")</a:t>
            </a:r>
          </a:p>
          <a:p>
            <a:pPr marL="0" indent="0">
              <a:buNone/>
            </a:pPr>
            <a:r>
              <a:rPr lang="pt-BR" dirty="0" err="1"/>
              <a:t>fimfuncao</a:t>
            </a:r>
            <a:endParaRPr lang="pt-BR" dirty="0"/>
          </a:p>
          <a:p>
            <a:r>
              <a:rPr lang="pt-BR" dirty="0"/>
              <a:t>Falta o </a:t>
            </a:r>
            <a:r>
              <a:rPr lang="pt-BR" b="1" dirty="0"/>
              <a:t>“então”</a:t>
            </a:r>
            <a:r>
              <a:rPr lang="pt-BR" dirty="0"/>
              <a:t> (</a:t>
            </a:r>
            <a:r>
              <a:rPr lang="pt-BR" dirty="0" err="1"/>
              <a:t>then</a:t>
            </a:r>
            <a:r>
              <a:rPr lang="pt-BR" dirty="0"/>
              <a:t>).</a:t>
            </a:r>
          </a:p>
          <a:p>
            <a:r>
              <a:rPr lang="pt-BR" b="1" dirty="0"/>
              <a:t>Erro de Execução:</a:t>
            </a:r>
          </a:p>
          <a:p>
            <a:pPr marL="0" indent="0">
              <a:buNone/>
            </a:pPr>
            <a:r>
              <a:rPr lang="pt-BR" dirty="0"/>
              <a:t>a ← 10</a:t>
            </a:r>
          </a:p>
          <a:p>
            <a:pPr marL="0" indent="0">
              <a:buNone/>
            </a:pPr>
            <a:r>
              <a:rPr lang="pt-BR" dirty="0"/>
              <a:t>b ← 0</a:t>
            </a:r>
          </a:p>
          <a:p>
            <a:pPr marL="0" indent="0">
              <a:buNone/>
            </a:pPr>
            <a:r>
              <a:rPr lang="pt-BR" dirty="0"/>
              <a:t>c ← a / b // divisão por zero</a:t>
            </a:r>
          </a:p>
          <a:p>
            <a:r>
              <a:rPr lang="pt-BR" b="1" dirty="0"/>
              <a:t>Erro Lógico:</a:t>
            </a:r>
          </a:p>
          <a:p>
            <a:pPr marL="0" indent="0">
              <a:buNone/>
            </a:pPr>
            <a:r>
              <a:rPr lang="pt-BR" dirty="0"/>
              <a:t>media ← soma / total + 1 // lógica incorreta</a:t>
            </a:r>
          </a:p>
        </p:txBody>
      </p:sp>
    </p:spTree>
    <p:extLst>
      <p:ext uri="{BB962C8B-B14F-4D97-AF65-F5344CB8AC3E}">
        <p14:creationId xmlns:p14="http://schemas.microsoft.com/office/powerpoint/2010/main" val="255589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Depuração (</a:t>
            </a:r>
            <a:r>
              <a:rPr lang="pt-BR" dirty="0" err="1"/>
              <a:t>Debugging</a:t>
            </a:r>
            <a:r>
              <a:rPr lang="pt-B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dirty="0"/>
              <a:t>É o processo de </a:t>
            </a:r>
            <a:r>
              <a:rPr lang="pt-BR" b="1" dirty="0"/>
              <a:t>investigar e eliminar bugs</a:t>
            </a:r>
            <a:r>
              <a:rPr lang="pt-BR" dirty="0"/>
              <a:t>.</a:t>
            </a:r>
          </a:p>
          <a:p>
            <a:r>
              <a:rPr lang="pt-BR" dirty="0"/>
              <a:t>Envolve </a:t>
            </a:r>
            <a:r>
              <a:rPr lang="pt-BR" b="1" dirty="0"/>
              <a:t>analisar variáveis</a:t>
            </a:r>
            <a:r>
              <a:rPr lang="pt-BR" dirty="0"/>
              <a:t>, </a:t>
            </a:r>
            <a:r>
              <a:rPr lang="pt-BR" b="1" dirty="0"/>
              <a:t>acompanhar a execução</a:t>
            </a:r>
            <a:r>
              <a:rPr lang="pt-BR" dirty="0"/>
              <a:t> e </a:t>
            </a:r>
            <a:r>
              <a:rPr lang="pt-BR" b="1" dirty="0"/>
              <a:t>testar hipóteses</a:t>
            </a:r>
            <a:r>
              <a:rPr lang="pt-BR" dirty="0"/>
              <a:t>.</a:t>
            </a:r>
          </a:p>
          <a:p>
            <a:r>
              <a:rPr lang="pt-BR" dirty="0"/>
              <a:t>Ferramentas modernas permitem </a:t>
            </a:r>
            <a:r>
              <a:rPr lang="pt-BR" b="1" dirty="0"/>
              <a:t>executar passo a passo (</a:t>
            </a:r>
            <a:r>
              <a:rPr lang="pt-BR" b="1" dirty="0" err="1"/>
              <a:t>step-by-step</a:t>
            </a:r>
            <a:r>
              <a:rPr lang="pt-BR" b="1" dirty="0"/>
              <a:t>)</a:t>
            </a:r>
            <a:r>
              <a:rPr lang="pt-BR" dirty="0"/>
              <a:t>.</a:t>
            </a:r>
          </a:p>
          <a:p>
            <a:r>
              <a:rPr lang="pt-BR" dirty="0"/>
              <a:t>Depurar é </a:t>
            </a:r>
            <a:r>
              <a:rPr lang="pt-BR" b="1" dirty="0"/>
              <a:t>pensar como o computador pensa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409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Técnicas de Depuração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800" b="1" dirty="0"/>
              <a:t>Leitura de código (</a:t>
            </a:r>
            <a:r>
              <a:rPr lang="pt-BR" sz="2800" b="1" dirty="0" err="1"/>
              <a:t>code</a:t>
            </a:r>
            <a:r>
              <a:rPr lang="pt-BR" sz="2800" b="1" dirty="0"/>
              <a:t> review)</a:t>
            </a:r>
          </a:p>
          <a:p>
            <a:r>
              <a:rPr lang="pt-BR" sz="2800" b="1" dirty="0"/>
              <a:t>Uso de mensagens de log (</a:t>
            </a:r>
            <a:r>
              <a:rPr lang="pt-BR" sz="2800" b="1" dirty="0" err="1"/>
              <a:t>logging</a:t>
            </a:r>
            <a:r>
              <a:rPr lang="pt-BR" sz="2800" b="1" dirty="0"/>
              <a:t>)</a:t>
            </a:r>
          </a:p>
          <a:p>
            <a:r>
              <a:rPr lang="pt-BR" sz="2800" b="1" dirty="0"/>
              <a:t>Execução passo a passo (</a:t>
            </a:r>
            <a:r>
              <a:rPr lang="pt-BR" sz="2800" b="1" dirty="0" err="1"/>
              <a:t>step</a:t>
            </a:r>
            <a:r>
              <a:rPr lang="pt-BR" sz="2800" b="1" dirty="0"/>
              <a:t> over / </a:t>
            </a:r>
            <a:r>
              <a:rPr lang="pt-BR" sz="2800" b="1" dirty="0" err="1"/>
              <a:t>step</a:t>
            </a:r>
            <a:r>
              <a:rPr lang="pt-BR" sz="2800" b="1" dirty="0"/>
              <a:t> </a:t>
            </a:r>
            <a:r>
              <a:rPr lang="pt-BR" sz="2800" b="1" dirty="0" err="1"/>
              <a:t>into</a:t>
            </a:r>
            <a:r>
              <a:rPr lang="pt-BR" sz="2800" b="1" dirty="0"/>
              <a:t>)</a:t>
            </a:r>
          </a:p>
          <a:p>
            <a:r>
              <a:rPr lang="pt-BR" sz="2800" b="1" dirty="0"/>
              <a:t>Pontos de interrupção (breakpoints)</a:t>
            </a:r>
          </a:p>
          <a:p>
            <a:r>
              <a:rPr lang="pt-BR" sz="2800" b="1" dirty="0"/>
              <a:t>Análise de variáveis (</a:t>
            </a:r>
            <a:r>
              <a:rPr lang="pt-BR" sz="2800" b="1" dirty="0" err="1"/>
              <a:t>watch</a:t>
            </a:r>
            <a:r>
              <a:rPr lang="pt-BR" sz="2800" b="1" dirty="0"/>
              <a:t> / </a:t>
            </a:r>
            <a:r>
              <a:rPr lang="pt-BR" sz="2800" b="1" dirty="0" err="1"/>
              <a:t>inspect</a:t>
            </a:r>
            <a:r>
              <a:rPr lang="pt-BR" sz="2800" b="1" dirty="0"/>
              <a:t>)</a:t>
            </a:r>
            <a:endParaRPr lang="pt-BR" sz="2800" dirty="0"/>
          </a:p>
          <a:p>
            <a:pPr marL="0" indent="0">
              <a:buNone/>
            </a:pPr>
            <a:r>
              <a:rPr lang="pt-BR" sz="2800" dirty="0"/>
              <a:t>“O melhor depurador ainda é o programador que entende o que escreveu.”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Uso de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dirty="0"/>
              <a:t>Inserir mensagens para acompanhar o fluxo do programa.</a:t>
            </a:r>
          </a:p>
          <a:p>
            <a:r>
              <a:rPr lang="pt-BR" sz="2400" dirty="0"/>
              <a:t>Ajuda a entender onde o erro ocorre.</a:t>
            </a:r>
          </a:p>
          <a:p>
            <a:r>
              <a:rPr lang="pt-BR" sz="2400" b="1" dirty="0"/>
              <a:t>Exemplo:</a:t>
            </a:r>
          </a:p>
          <a:p>
            <a:pPr marL="0" indent="0">
              <a:buNone/>
            </a:pPr>
            <a:r>
              <a:rPr lang="pt-BR" sz="2400" dirty="0"/>
              <a:t>escreva("Iniciando cálculo")</a:t>
            </a:r>
          </a:p>
          <a:p>
            <a:pPr marL="0" indent="0">
              <a:buNone/>
            </a:pPr>
            <a:r>
              <a:rPr lang="pt-BR" sz="2400" dirty="0"/>
              <a:t>resultado ← </a:t>
            </a:r>
            <a:r>
              <a:rPr lang="pt-BR" sz="2400" dirty="0" err="1"/>
              <a:t>calcula_total</a:t>
            </a:r>
            <a:r>
              <a:rPr lang="pt-BR" sz="2400" dirty="0"/>
              <a:t>()</a:t>
            </a:r>
          </a:p>
          <a:p>
            <a:pPr marL="0" indent="0">
              <a:buNone/>
            </a:pPr>
            <a:r>
              <a:rPr lang="pt-BR" sz="2400" dirty="0"/>
              <a:t>escreva("Resultado:", resultado)</a:t>
            </a:r>
          </a:p>
          <a:p>
            <a:r>
              <a:rPr lang="pt-BR" sz="2400" b="1" dirty="0"/>
              <a:t>Boas práticas:</a:t>
            </a:r>
            <a:endParaRPr lang="pt-BR" sz="2400" dirty="0"/>
          </a:p>
          <a:p>
            <a:pPr lvl="1"/>
            <a:r>
              <a:rPr lang="pt-BR" sz="2400" dirty="0"/>
              <a:t>Não exibir informações sensíveis.</a:t>
            </a:r>
          </a:p>
          <a:p>
            <a:pPr lvl="1"/>
            <a:r>
              <a:rPr lang="pt-BR" sz="2400" dirty="0"/>
              <a:t>Usar níveis de log (</a:t>
            </a:r>
            <a:r>
              <a:rPr lang="pt-BR" sz="2400" dirty="0" err="1"/>
              <a:t>info</a:t>
            </a:r>
            <a:r>
              <a:rPr lang="pt-BR" sz="2400" dirty="0"/>
              <a:t>, </a:t>
            </a:r>
            <a:r>
              <a:rPr lang="pt-BR" sz="2400" dirty="0" err="1"/>
              <a:t>warning</a:t>
            </a:r>
            <a:r>
              <a:rPr lang="pt-BR" sz="2400" dirty="0"/>
              <a:t>, </a:t>
            </a:r>
            <a:r>
              <a:rPr lang="pt-BR" sz="2400" dirty="0" err="1"/>
              <a:t>error</a:t>
            </a:r>
            <a:r>
              <a:rPr lang="pt-BR" sz="2400" dirty="0"/>
              <a:t>).</a:t>
            </a:r>
          </a:p>
          <a:p>
            <a:pPr lvl="1"/>
            <a:r>
              <a:rPr lang="pt-BR" sz="2400" dirty="0"/>
              <a:t>Remover logs excessivos antes da entrega final.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3109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Tratamento de Erros (</a:t>
            </a:r>
            <a:r>
              <a:rPr lang="pt-BR" dirty="0" err="1"/>
              <a:t>Error</a:t>
            </a:r>
            <a:r>
              <a:rPr lang="pt-BR" dirty="0"/>
              <a:t> </a:t>
            </a:r>
            <a:r>
              <a:rPr lang="pt-BR" dirty="0" err="1"/>
              <a:t>Handling</a:t>
            </a:r>
            <a:r>
              <a:rPr lang="pt-B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1800" dirty="0"/>
              <a:t>Permite que o programa </a:t>
            </a:r>
            <a:r>
              <a:rPr lang="pt-BR" sz="1800" b="1" dirty="0"/>
              <a:t>continue executando mesmo após um erro</a:t>
            </a:r>
            <a:r>
              <a:rPr lang="pt-BR" sz="1800" dirty="0"/>
              <a:t>.</a:t>
            </a:r>
          </a:p>
          <a:p>
            <a:r>
              <a:rPr lang="pt-BR" sz="1800" dirty="0"/>
              <a:t>Impede que o sistema quebre completamente.</a:t>
            </a:r>
          </a:p>
          <a:p>
            <a:r>
              <a:rPr lang="pt-BR" sz="1800" b="1" dirty="0"/>
              <a:t>Estrutura genérica: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tente</a:t>
            </a:r>
          </a:p>
          <a:p>
            <a:pPr marL="0" indent="0">
              <a:buNone/>
            </a:pPr>
            <a:r>
              <a:rPr lang="pt-BR" sz="1800" dirty="0"/>
              <a:t>   	// código que pode gerar erro</a:t>
            </a:r>
          </a:p>
          <a:p>
            <a:pPr marL="0" indent="0">
              <a:buNone/>
            </a:pPr>
            <a:r>
              <a:rPr lang="pt-BR" sz="1800" dirty="0"/>
              <a:t>   	resultado ← dividir(a, b)</a:t>
            </a:r>
          </a:p>
          <a:p>
            <a:pPr marL="0" indent="0">
              <a:buNone/>
            </a:pPr>
            <a:r>
              <a:rPr lang="pt-BR" sz="1800" dirty="0"/>
              <a:t>capture erro</a:t>
            </a:r>
          </a:p>
          <a:p>
            <a:pPr marL="0" indent="0">
              <a:buNone/>
            </a:pPr>
            <a:r>
              <a:rPr lang="pt-BR" sz="1800" dirty="0"/>
              <a:t>   	escreva("Ocorreu um erro: ", erro)</a:t>
            </a:r>
          </a:p>
          <a:p>
            <a:pPr marL="0" indent="0">
              <a:buNone/>
            </a:pPr>
            <a:r>
              <a:rPr lang="pt-BR" sz="1800" dirty="0" err="1"/>
              <a:t>fimtente</a:t>
            </a:r>
            <a:endParaRPr lang="pt-BR" sz="1800" dirty="0"/>
          </a:p>
          <a:p>
            <a:r>
              <a:rPr lang="pt-BR" sz="1800" dirty="0"/>
              <a:t>“Tratar erros é antecipar o inesperado.”</a:t>
            </a:r>
          </a:p>
        </p:txBody>
      </p:sp>
    </p:spTree>
    <p:extLst>
      <p:ext uri="{BB962C8B-B14F-4D97-AF65-F5344CB8AC3E}">
        <p14:creationId xmlns:p14="http://schemas.microsoft.com/office/powerpoint/2010/main" val="997125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Erros Comuns em Programas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3600" dirty="0"/>
              <a:t>Divisão por zero</a:t>
            </a:r>
          </a:p>
          <a:p>
            <a:r>
              <a:rPr lang="pt-BR" sz="3600" dirty="0"/>
              <a:t>Variável não inicializada</a:t>
            </a:r>
          </a:p>
          <a:p>
            <a:r>
              <a:rPr lang="pt-BR" sz="3600" dirty="0"/>
              <a:t>Índice fora do limite</a:t>
            </a:r>
          </a:p>
          <a:p>
            <a:r>
              <a:rPr lang="pt-BR" sz="3600" dirty="0"/>
              <a:t>Falha de conversão de tipo</a:t>
            </a:r>
          </a:p>
          <a:p>
            <a:r>
              <a:rPr lang="pt-BR" sz="3600" dirty="0"/>
              <a:t>Entrada inválida do usuário</a:t>
            </a:r>
          </a:p>
          <a:p>
            <a:r>
              <a:rPr lang="pt-BR" sz="3600" dirty="0"/>
              <a:t>Sempre valide os dados </a:t>
            </a:r>
            <a:r>
              <a:rPr lang="pt-BR" sz="3600" b="1" dirty="0"/>
              <a:t>antes de processá-los</a:t>
            </a:r>
            <a:r>
              <a:rPr lang="pt-B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5504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Estratégias de Tratamento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1800" b="1" dirty="0"/>
              <a:t>Validação de entradas (input </a:t>
            </a:r>
            <a:r>
              <a:rPr lang="pt-BR" sz="1800" b="1" dirty="0" err="1"/>
              <a:t>validation</a:t>
            </a:r>
            <a:r>
              <a:rPr lang="pt-BR" sz="1800" b="1" dirty="0"/>
              <a:t>)</a:t>
            </a:r>
          </a:p>
          <a:p>
            <a:r>
              <a:rPr lang="pt-BR" sz="1800" b="1" dirty="0"/>
              <a:t>Uso de valores padrão (default </a:t>
            </a:r>
            <a:r>
              <a:rPr lang="pt-BR" sz="1800" b="1" dirty="0" err="1"/>
              <a:t>values</a:t>
            </a:r>
            <a:r>
              <a:rPr lang="pt-BR" sz="1800" b="1" dirty="0"/>
              <a:t>)</a:t>
            </a:r>
          </a:p>
          <a:p>
            <a:r>
              <a:rPr lang="pt-BR" sz="1800" b="1" dirty="0"/>
              <a:t>Mensagens claras para o usuário</a:t>
            </a:r>
          </a:p>
          <a:p>
            <a:r>
              <a:rPr lang="pt-BR" sz="1800" b="1" dirty="0"/>
              <a:t>Uso de blocos </a:t>
            </a:r>
            <a:r>
              <a:rPr lang="pt-BR" sz="1800" b="1" dirty="0" err="1"/>
              <a:t>try</a:t>
            </a:r>
            <a:r>
              <a:rPr lang="pt-BR" sz="1800" b="1" dirty="0"/>
              <a:t>/catch (tente/capture)</a:t>
            </a:r>
          </a:p>
          <a:p>
            <a:r>
              <a:rPr lang="pt-BR" sz="1800" b="1" dirty="0"/>
              <a:t>Retornos seguros (safe </a:t>
            </a:r>
            <a:r>
              <a:rPr lang="pt-BR" sz="1800" b="1" dirty="0" err="1"/>
              <a:t>returns</a:t>
            </a:r>
            <a:r>
              <a:rPr lang="pt-BR" sz="1800" b="1" dirty="0"/>
              <a:t>)</a:t>
            </a:r>
            <a:endParaRPr lang="pt-BR" sz="1800" dirty="0"/>
          </a:p>
          <a:p>
            <a:r>
              <a:rPr lang="pt-BR" sz="1800" dirty="0"/>
              <a:t>Exemplo:</a:t>
            </a:r>
          </a:p>
          <a:p>
            <a:pPr marL="0" indent="0">
              <a:buNone/>
            </a:pPr>
            <a:r>
              <a:rPr lang="pt-BR" sz="1800" dirty="0" err="1"/>
              <a:t>funcao</a:t>
            </a:r>
            <a:r>
              <a:rPr lang="pt-BR" sz="1800" dirty="0"/>
              <a:t> dividir(a, b)</a:t>
            </a:r>
          </a:p>
          <a:p>
            <a:pPr marL="0" indent="0">
              <a:buNone/>
            </a:pPr>
            <a:r>
              <a:rPr lang="pt-BR" sz="1800" dirty="0"/>
              <a:t>   	se b = 0 </a:t>
            </a:r>
            <a:r>
              <a:rPr lang="pt-BR" sz="1800" dirty="0" err="1"/>
              <a:t>entao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      		escreva("Erro: divisão por zero.")</a:t>
            </a:r>
          </a:p>
          <a:p>
            <a:pPr marL="0" indent="0">
              <a:buNone/>
            </a:pPr>
            <a:r>
              <a:rPr lang="pt-BR" sz="1800" dirty="0"/>
              <a:t>      		retorna 0</a:t>
            </a:r>
          </a:p>
          <a:p>
            <a:pPr marL="0" indent="0">
              <a:buNone/>
            </a:pPr>
            <a:r>
              <a:rPr lang="pt-BR" sz="1800" dirty="0"/>
              <a:t>   	</a:t>
            </a:r>
            <a:r>
              <a:rPr lang="pt-BR" sz="1800" dirty="0" err="1"/>
              <a:t>senao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      		retorna a / b</a:t>
            </a:r>
          </a:p>
          <a:p>
            <a:pPr marL="0" indent="0">
              <a:buNone/>
            </a:pPr>
            <a:r>
              <a:rPr lang="pt-BR" sz="1800" dirty="0"/>
              <a:t>   	</a:t>
            </a:r>
            <a:r>
              <a:rPr lang="pt-BR" sz="1800" dirty="0" err="1"/>
              <a:t>fimse</a:t>
            </a:r>
            <a:endParaRPr lang="pt-BR" sz="1800" dirty="0"/>
          </a:p>
          <a:p>
            <a:pPr marL="0" indent="0">
              <a:buNone/>
            </a:pPr>
            <a:r>
              <a:rPr lang="pt-BR" sz="1800" dirty="0" err="1"/>
              <a:t>fimfuncao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096899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Boas Práticas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dirty="0"/>
              <a:t>Antecipe possíveis falhas.</a:t>
            </a:r>
          </a:p>
          <a:p>
            <a:r>
              <a:rPr lang="pt-BR" dirty="0"/>
              <a:t>Use nomes de variáveis descritivos.</a:t>
            </a:r>
          </a:p>
          <a:p>
            <a:r>
              <a:rPr lang="pt-BR" dirty="0"/>
              <a:t>Evite mensagens genéricas como “Erro 404”.</a:t>
            </a:r>
          </a:p>
          <a:p>
            <a:r>
              <a:rPr lang="pt-BR" dirty="0"/>
              <a:t>Sempre teste seu programa em casos extremos.</a:t>
            </a:r>
          </a:p>
          <a:p>
            <a:pPr marL="0" indent="0">
              <a:buNone/>
            </a:pPr>
            <a:r>
              <a:rPr lang="pt-BR" dirty="0"/>
              <a:t>“Erros bem tratados fazem o usuário confiar no sistema.”</a:t>
            </a:r>
          </a:p>
        </p:txBody>
      </p:sp>
    </p:spTree>
    <p:extLst>
      <p:ext uri="{BB962C8B-B14F-4D97-AF65-F5344CB8AC3E}">
        <p14:creationId xmlns:p14="http://schemas.microsoft.com/office/powerpoint/2010/main" val="3003681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Ferramentas de Depuração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Ambientes de desenvolvimento (</a:t>
            </a:r>
            <a:r>
              <a:rPr lang="pt-BR" dirty="0" err="1"/>
              <a:t>IDEs</a:t>
            </a:r>
            <a:r>
              <a:rPr lang="pt-BR" dirty="0"/>
              <a:t>) como:</a:t>
            </a:r>
          </a:p>
          <a:p>
            <a:pPr lvl="1"/>
            <a:r>
              <a:rPr lang="pt-BR" dirty="0"/>
              <a:t>Visual Studio </a:t>
            </a:r>
            <a:r>
              <a:rPr lang="pt-BR" dirty="0" err="1"/>
              <a:t>Code</a:t>
            </a:r>
            <a:endParaRPr lang="pt-BR" dirty="0"/>
          </a:p>
          <a:p>
            <a:pPr lvl="1"/>
            <a:r>
              <a:rPr lang="pt-BR" dirty="0" err="1"/>
              <a:t>PyCharm</a:t>
            </a:r>
            <a:endParaRPr lang="pt-BR" dirty="0"/>
          </a:p>
          <a:p>
            <a:pPr lvl="1"/>
            <a:r>
              <a:rPr lang="pt-BR" dirty="0"/>
              <a:t>Eclipse</a:t>
            </a:r>
          </a:p>
          <a:p>
            <a:pPr lvl="1"/>
            <a:r>
              <a:rPr lang="pt-BR" dirty="0" err="1"/>
              <a:t>Dev</a:t>
            </a:r>
            <a:r>
              <a:rPr lang="pt-BR" dirty="0"/>
              <a:t>-C++</a:t>
            </a:r>
          </a:p>
          <a:p>
            <a:r>
              <a:rPr lang="pt-BR" dirty="0"/>
              <a:t>Ferramentas de log:</a:t>
            </a:r>
          </a:p>
          <a:p>
            <a:pPr lvl="1"/>
            <a:r>
              <a:rPr lang="pt-BR" dirty="0" err="1"/>
              <a:t>Logcat</a:t>
            </a:r>
            <a:r>
              <a:rPr lang="pt-BR" dirty="0"/>
              <a:t> (Android)</a:t>
            </a:r>
          </a:p>
          <a:p>
            <a:pPr lvl="1"/>
            <a:r>
              <a:rPr lang="pt-BR" dirty="0"/>
              <a:t>Console (</a:t>
            </a:r>
            <a:r>
              <a:rPr lang="pt-BR" dirty="0" err="1"/>
              <a:t>JavaScript</a:t>
            </a:r>
            <a:r>
              <a:rPr lang="pt-BR" dirty="0"/>
              <a:t> / Python)</a:t>
            </a:r>
          </a:p>
          <a:p>
            <a:pPr lvl="1"/>
            <a:r>
              <a:rPr lang="pt-BR" dirty="0"/>
              <a:t>Log4j, Winston, etc.</a:t>
            </a:r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Depuração</a:t>
            </a:r>
            <a:r>
              <a:rPr lang="pt-BR" dirty="0"/>
              <a:t> é o processo de entender e corrigir erros.</a:t>
            </a:r>
          </a:p>
          <a:p>
            <a:r>
              <a:rPr lang="pt-BR" b="1" dirty="0"/>
              <a:t>Tratamento de erros </a:t>
            </a:r>
            <a:r>
              <a:rPr lang="pt-BR" dirty="0"/>
              <a:t>é o cuidado de fazer o sistema reagir com controle.</a:t>
            </a:r>
          </a:p>
          <a:p>
            <a:r>
              <a:rPr lang="pt-BR" dirty="0"/>
              <a:t>Bons desenvolvedores não evitam erros — </a:t>
            </a:r>
            <a:r>
              <a:rPr lang="pt-BR" b="1" dirty="0"/>
              <a:t>eles aprendem a lidar com eles</a:t>
            </a:r>
            <a:r>
              <a:rPr lang="pt-BR" dirty="0"/>
              <a:t>.</a:t>
            </a:r>
          </a:p>
          <a:p>
            <a:r>
              <a:rPr lang="pt-BR" b="1" dirty="0"/>
              <a:t>Resumo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dirty="0"/>
              <a:t>“Depurar é compreender o erro; tratar é saber continuar sem quebrar.”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Busca e ordenação </a:t>
            </a:r>
            <a:r>
              <a:rPr lang="pt-BR" dirty="0"/>
              <a:t>são operações centrais em lógica e estruturas de dados.</a:t>
            </a:r>
          </a:p>
          <a:p>
            <a:r>
              <a:rPr lang="pt-BR" dirty="0"/>
              <a:t>Conhecer suas diferenças e aplicações melhora a </a:t>
            </a:r>
            <a:r>
              <a:rPr lang="pt-BR" b="1" dirty="0"/>
              <a:t>eficiência</a:t>
            </a:r>
            <a:r>
              <a:rPr lang="pt-BR" dirty="0"/>
              <a:t> dos algoritmos.</a:t>
            </a:r>
          </a:p>
          <a:p>
            <a:r>
              <a:rPr lang="pt-BR" dirty="0"/>
              <a:t>A escolha correta do método depende do </a:t>
            </a:r>
            <a:r>
              <a:rPr lang="pt-BR" b="1" dirty="0"/>
              <a:t>tamanho e organização </a:t>
            </a:r>
            <a:r>
              <a:rPr lang="pt-BR" dirty="0"/>
              <a:t>dos dados.</a:t>
            </a:r>
          </a:p>
          <a:p>
            <a:r>
              <a:rPr lang="pt-BR" b="1" dirty="0"/>
              <a:t>Resumo:</a:t>
            </a:r>
          </a:p>
          <a:p>
            <a:pPr marL="0" indent="0">
              <a:buNone/>
            </a:pPr>
            <a:r>
              <a:rPr lang="pt-BR" dirty="0"/>
              <a:t>“Buscar é encontrar; ordenar é preparar o caminho para encontrar mais rápido.”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660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617</Words>
  <Application>Microsoft Office PowerPoint</Application>
  <PresentationFormat>Apresentação na tela (4:3)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Etapa 10 — Depuração e Tratamento de Erros (Debugging and Error Handling)</vt:lpstr>
      <vt:lpstr>Introdução</vt:lpstr>
      <vt:lpstr>Tipos de Erros</vt:lpstr>
      <vt:lpstr>Exemplo de Erros</vt:lpstr>
      <vt:lpstr>O que é Depuração (Debugging)</vt:lpstr>
      <vt:lpstr>Técnicas de Depuração</vt:lpstr>
      <vt:lpstr>Uso de Logs</vt:lpstr>
      <vt:lpstr>Tratamento de Erros (Error Handling)</vt:lpstr>
      <vt:lpstr>Erros Comuns em Programas</vt:lpstr>
      <vt:lpstr>Estratégias de Tratamento</vt:lpstr>
      <vt:lpstr>Boas Práticas</vt:lpstr>
      <vt:lpstr>Ferramentas de Depuração</vt:lpstr>
      <vt:lpstr>Conclusão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>Murilo Rocha</dc:creator>
  <cp:keywords/>
  <dc:description>generated using python-pptx</dc:description>
  <cp:lastModifiedBy>Murilo Rocha</cp:lastModifiedBy>
  <cp:revision>64</cp:revision>
  <dcterms:created xsi:type="dcterms:W3CDTF">2013-01-27T09:14:16Z</dcterms:created>
  <dcterms:modified xsi:type="dcterms:W3CDTF">2025-11-06T21:04:07Z</dcterms:modified>
  <cp:category/>
</cp:coreProperties>
</file>